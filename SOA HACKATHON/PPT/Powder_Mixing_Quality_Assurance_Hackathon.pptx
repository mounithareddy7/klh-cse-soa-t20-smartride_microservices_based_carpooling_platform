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4480560"/>
            <a:ext cx="201168" cy="9144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06840" y="3977640"/>
            <a:ext cx="201168" cy="1417320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0" y="3429000"/>
            <a:ext cx="201168" cy="1965960"/>
          </a:xfrm>
          <a:prstGeom prst="rect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12680" y="4160520"/>
            <a:ext cx="201168" cy="12344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0" y="2926080"/>
            <a:ext cx="201168" cy="2468880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82296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3EBECC"/>
                </a:solidFill>
                <a:latin typeface="Aptos"/>
              </a:defRPr>
            </a:pPr>
            <a:r>
              <a:t>HACKATHON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863840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r>
              <a:t>POWDER MIXING</a:t>
            </a:r>
            <a:br/>
            <a:r>
              <a:t>QUALITY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69494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800" b="0">
                <a:solidFill>
                  <a:srgbClr val="B4C1D3"/>
                </a:solidFill>
                <a:latin typeface="Aptos"/>
              </a:defRPr>
            </a:pPr>
            <a:r>
              <a:t>Recipe-Based Batch Evaluation &amp; Ingredient Tolerance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99226"/>
            <a:ext cx="420624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F8FAFD"/>
                </a:solidFill>
                <a:latin typeface="Aptos"/>
              </a:defRPr>
            </a:pPr>
            <a:r>
              <a:rPr dirty="0"/>
              <a:t>Team Name: </a:t>
            </a:r>
            <a:r>
              <a:rPr lang="en-US" dirty="0"/>
              <a:t>TEAM-20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8686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3EBECC"/>
                </a:solidFill>
                <a:latin typeface="Aptos"/>
              </a:defRPr>
            </a:pPr>
            <a:r>
              <a:t>A practical tool for accurate, consistent and traceable powder batches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F6E87-B7C5-5452-88E0-50814BDF3450}"/>
              </a:ext>
            </a:extLst>
          </p:cNvPr>
          <p:cNvSpPr txBox="1"/>
          <p:nvPr/>
        </p:nvSpPr>
        <p:spPr>
          <a:xfrm>
            <a:off x="617220" y="5043401"/>
            <a:ext cx="5157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Raavi Jahnavi-2420030173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Thirumala Reddy Sagar Mounitha-2420030330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SriHansika</a:t>
            </a:r>
            <a:r>
              <a:rPr lang="en-US" dirty="0">
                <a:solidFill>
                  <a:schemeClr val="bg1"/>
                </a:solidFill>
              </a:rPr>
              <a:t> Saraf-2420030556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FADD50-B5A8-2264-DB7B-A206FFDA5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603" y="6222967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Why powder mixing needs reliable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5780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987552" y="280720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7864" y="269748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Manual weighing can introduce errors.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339013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328041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Small percentage deviations can affect batch consistency.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97306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864" y="3863339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Checking every ingredient by hand takes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455599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97864" y="444627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Inconsistent records make decisions harder to trace.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21208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WHAT IS NEEDED?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280720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75704" y="269748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A clear recipe target for every ingredient.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39013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75704" y="328041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Automatic calculation of actual percentages.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97306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5704" y="3863339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Tolerance-based pass/fail decisions.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455599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5704" y="4446270"/>
            <a:ext cx="4361688" cy="5646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t>A simple interface for operators and reviewers.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987B20-5F9F-0DD8-BC0B-87C6FFCB3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739" y="6166721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A lightweight web application for batch-level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200" b="1">
                <a:solidFill>
                  <a:srgbClr val="F8FAFD"/>
                </a:solidFill>
                <a:latin typeface="Aptos"/>
              </a:defRPr>
            </a:pPr>
            <a:r>
              <a:t>The Powder Mixing Quality Assurance System compares the actual weight of each ingredient against its saved recipe target and tolerance.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256032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364992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9476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Save recipes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79392"/>
            <a:ext cx="21488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Define ingredients, target percentages and allowed tolerance.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3154680"/>
            <a:ext cx="256032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85615" y="3364992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379476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Enter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4279392"/>
            <a:ext cx="21488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Record the actual grams measured for a batch.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3154680"/>
            <a:ext cx="256032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8544" y="3364992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379476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Evaluate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4279392"/>
            <a:ext cx="21488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Calculate ingredient percentages and check deviations.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3154680"/>
            <a:ext cx="256032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3364992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79476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Get a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4279392"/>
            <a:ext cx="21488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Return APPROVED or REJECTED with a message.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04B92E-7225-4A68-8A8D-AC05B983E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603" y="6222967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Designed around the practical workflow of recipe and batch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Recipe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Create, view, edit and delete recipes.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1305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Target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620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Ensure recipe targets add up to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1305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Tolerance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620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Validate each ingredient against its permitted deviation.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593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Batch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Show a clear APPROVED or REJECTED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947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9593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976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Persistent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908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Store recipes and evaluated batches in MySQL.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94760"/>
            <a:ext cx="3429000" cy="14173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3959352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3EBE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29768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Dashboard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690872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3"/>
                </a:solidFill>
                <a:latin typeface="Aptos"/>
              </a:defRPr>
            </a:pPr>
            <a:r>
              <a:t>Display recipe and batch decision counts.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DC26B37-E46D-DA6A-49FC-77534644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603" y="6222967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From a saved recipe to a batch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56231"/>
            <a:ext cx="438912" cy="438912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Select 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847088"/>
            <a:ext cx="6949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B4C1D3"/>
                </a:solidFill>
                <a:latin typeface="Aptos"/>
              </a:defRPr>
            </a:pPr>
            <a:r>
              <a:t>Load ingredient targets and tolerances.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304288"/>
            <a:ext cx="32004" cy="329184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660903"/>
            <a:ext cx="438912" cy="438912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066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33472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Enter actual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51760"/>
            <a:ext cx="6949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B4C1D3"/>
                </a:solidFill>
                <a:latin typeface="Aptos"/>
              </a:defRPr>
            </a:pPr>
            <a:r>
              <a:t>Input the measured weight in grams.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" y="3108960"/>
            <a:ext cx="32004" cy="329184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465575"/>
            <a:ext cx="438912" cy="438912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11296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38144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Calculate percentages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456432"/>
            <a:ext cx="6949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B4C1D3"/>
                </a:solidFill>
                <a:latin typeface="Aptos"/>
              </a:defRPr>
            </a:pPr>
            <a:r>
              <a:t>Actual % = ingredient weight ÷ total batch weight × 100.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3913631"/>
            <a:ext cx="32004" cy="329184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4270248"/>
            <a:ext cx="438912" cy="438912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15968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42816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Compare tolerance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261104"/>
            <a:ext cx="6949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B4C1D3"/>
                </a:solidFill>
                <a:latin typeface="Aptos"/>
              </a:defRPr>
            </a:pPr>
            <a:r>
              <a:t>Check each actual percentage against its permitted range.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4718304"/>
            <a:ext cx="32004" cy="329184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074920"/>
            <a:ext cx="438912" cy="438912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047488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Return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065775"/>
            <a:ext cx="6949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B4C1D3"/>
                </a:solidFill>
                <a:latin typeface="Aptos"/>
              </a:defRPr>
            </a:pPr>
            <a:r>
              <a:t>Approve only when all ingredients pass.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DA06E2D-9CB8-EF9D-4452-6C70511D6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201" y="6222966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Simple separation of user interface, business logic and data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283464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3EBEC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F8FAFD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2468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Recipe forms, weight inputs,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23160"/>
            <a:ext cx="283464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3EBECC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5468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F8FAFD"/>
                </a:solidFill>
                <a:latin typeface="Aptos"/>
              </a:defRPr>
            </a:pPr>
            <a:r>
              <a:t>Java • 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2468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Validation, tolerance evaluation,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423160"/>
            <a:ext cx="2834640" cy="201168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69748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3EBEC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15468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F8FAFD"/>
                </a:solidFill>
                <a:latin typeface="Aptos"/>
              </a:defRPr>
            </a:pPr>
            <a:r>
              <a:t>MySQL • Spring Data 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703320"/>
            <a:ext cx="2468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Recipes, ingredients, batch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063240"/>
            <a:ext cx="4572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800" b="1">
                <a:solidFill>
                  <a:srgbClr val="4AB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63240"/>
            <a:ext cx="4572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800" b="1">
                <a:solidFill>
                  <a:srgbClr val="4AB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74920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F8FAFD"/>
                </a:solidFill>
                <a:latin typeface="Aptos"/>
              </a:defRPr>
            </a:pPr>
            <a:r>
              <a:t>REST endpoint: POST /api/batches/evaluate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69280"/>
            <a:ext cx="9784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0">
                <a:solidFill>
                  <a:srgbClr val="B4C1D3"/>
                </a:solidFill>
                <a:latin typeface="Aptos"/>
              </a:defRPr>
            </a:pPr>
            <a:r>
              <a:t>JSON request → evaluation service → database persistence → JSON response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3DC30C-20A0-3202-506B-AAD0CE94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603" y="6195535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Tools and frameworks used to build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560320" cy="306324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468880"/>
            <a:ext cx="2148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326440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315468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81304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370332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436168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425196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2148840"/>
            <a:ext cx="2560320" cy="306324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85615" y="2468880"/>
            <a:ext cx="2148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Oval 15"/>
          <p:cNvSpPr/>
          <p:nvPr/>
        </p:nvSpPr>
        <p:spPr>
          <a:xfrm>
            <a:off x="3794760" y="326440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05072" y="315468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Java 21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381304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370332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0" name="Oval 19"/>
          <p:cNvSpPr/>
          <p:nvPr/>
        </p:nvSpPr>
        <p:spPr>
          <a:xfrm>
            <a:off x="3794760" y="436168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425196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Spring MVC / 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2148840"/>
            <a:ext cx="2560320" cy="306324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38544" y="2468880"/>
            <a:ext cx="2148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326440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8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Spring Data JPA</a:t>
            </a:r>
          </a:p>
        </p:txBody>
      </p:sp>
      <p:sp>
        <p:nvSpPr>
          <p:cNvPr id="26" name="Oval 25"/>
          <p:cNvSpPr/>
          <p:nvPr/>
        </p:nvSpPr>
        <p:spPr>
          <a:xfrm>
            <a:off x="6647688" y="381304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70332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Hibernate</a:t>
            </a:r>
          </a:p>
        </p:txBody>
      </p:sp>
      <p:sp>
        <p:nvSpPr>
          <p:cNvPr id="28" name="Oval 27"/>
          <p:cNvSpPr/>
          <p:nvPr/>
        </p:nvSpPr>
        <p:spPr>
          <a:xfrm>
            <a:off x="6647688" y="436168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25196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MySQL 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0304" y="2148840"/>
            <a:ext cx="2560320" cy="306324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468880"/>
            <a:ext cx="2148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3EBECC"/>
                </a:solidFill>
                <a:latin typeface="Aptos"/>
              </a:defRPr>
            </a:pPr>
            <a:r>
              <a:t>RUNTIME &amp; TESTING</a:t>
            </a:r>
          </a:p>
        </p:txBody>
      </p:sp>
      <p:sp>
        <p:nvSpPr>
          <p:cNvPr id="32" name="Oval 31"/>
          <p:cNvSpPr/>
          <p:nvPr/>
        </p:nvSpPr>
        <p:spPr>
          <a:xfrm>
            <a:off x="9500616" y="326440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0928" y="315468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Maven / IDE</a:t>
            </a:r>
          </a:p>
        </p:txBody>
      </p:sp>
      <p:sp>
        <p:nvSpPr>
          <p:cNvPr id="34" name="Oval 33"/>
          <p:cNvSpPr/>
          <p:nvPr/>
        </p:nvSpPr>
        <p:spPr>
          <a:xfrm>
            <a:off x="9500616" y="381304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10928" y="370332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Browser-based interface</a:t>
            </a:r>
          </a:p>
        </p:txBody>
      </p:sp>
      <p:sp>
        <p:nvSpPr>
          <p:cNvPr id="36" name="Oval 35"/>
          <p:cNvSpPr/>
          <p:nvPr/>
        </p:nvSpPr>
        <p:spPr>
          <a:xfrm>
            <a:off x="9500616" y="436168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10928" y="4251960"/>
            <a:ext cx="19385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API and end-to-end tests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DDF677F-3ABC-2117-A636-C1F36C18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739" y="6190488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B7853-C7A5-6417-8091-6C594029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A0C1E-D123-93B6-925C-27E773BA99C6}"/>
              </a:ext>
            </a:extLst>
          </p:cNvPr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Results &amp;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29D9C-05CF-8BB6-D85B-AA2597912AA2}"/>
              </a:ext>
            </a:extLst>
          </p:cNvPr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1446B-3121-1D9E-49EC-A7F6A30E30DF}"/>
              </a:ext>
            </a:extLst>
          </p:cNvPr>
          <p:cNvSpPr txBox="1"/>
          <p:nvPr/>
        </p:nvSpPr>
        <p:spPr>
          <a:xfrm>
            <a:off x="11018520" y="4389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CB40C2-4824-9225-ED88-B13811B44710}"/>
              </a:ext>
            </a:extLst>
          </p:cNvPr>
          <p:cNvSpPr/>
          <p:nvPr/>
        </p:nvSpPr>
        <p:spPr>
          <a:xfrm>
            <a:off x="777240" y="1965960"/>
            <a:ext cx="5074920" cy="3429000"/>
          </a:xfrm>
          <a:prstGeom prst="roundRect">
            <a:avLst/>
          </a:prstGeom>
          <a:solidFill>
            <a:srgbClr val="172740"/>
          </a:solidFill>
          <a:ln>
            <a:solidFill>
              <a:srgbClr val="486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416AA-94CD-32E9-FC3B-6694657AA414}"/>
              </a:ext>
            </a:extLst>
          </p:cNvPr>
          <p:cNvSpPr txBox="1"/>
          <p:nvPr/>
        </p:nvSpPr>
        <p:spPr>
          <a:xfrm>
            <a:off x="1005840" y="2212848"/>
            <a:ext cx="45720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3EBECC"/>
                </a:solidFill>
                <a:latin typeface="Aptos"/>
              </a:defRPr>
            </a:pPr>
            <a:r>
              <a:t>RECIPE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5C4AE-44C8-B9C8-DA5C-9D5AD627EED9}"/>
              </a:ext>
            </a:extLst>
          </p:cNvPr>
          <p:cNvSpPr/>
          <p:nvPr/>
        </p:nvSpPr>
        <p:spPr>
          <a:xfrm>
            <a:off x="1143000" y="2834640"/>
            <a:ext cx="4343400" cy="2057400"/>
          </a:xfrm>
          <a:prstGeom prst="rect">
            <a:avLst/>
          </a:prstGeom>
          <a:solidFill>
            <a:srgbClr val="20334F"/>
          </a:solidFill>
          <a:ln>
            <a:solidFill>
              <a:srgbClr val="B4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C47894-EB34-9739-61F8-6106D2734DA5}"/>
              </a:ext>
            </a:extLst>
          </p:cNvPr>
          <p:cNvSpPr txBox="1"/>
          <p:nvPr/>
        </p:nvSpPr>
        <p:spPr>
          <a:xfrm>
            <a:off x="1097280" y="5074920"/>
            <a:ext cx="44348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0">
                <a:solidFill>
                  <a:srgbClr val="B4C1D3"/>
                </a:solidFill>
                <a:latin typeface="Aptos"/>
              </a:defRPr>
            </a:pPr>
            <a:r>
              <a:t>Insert recipe creation/list screenshot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EC6D3B-8A1F-DAC4-D940-D5CA89D51BD1}"/>
              </a:ext>
            </a:extLst>
          </p:cNvPr>
          <p:cNvSpPr/>
          <p:nvPr/>
        </p:nvSpPr>
        <p:spPr>
          <a:xfrm>
            <a:off x="6355079" y="1965960"/>
            <a:ext cx="5074920" cy="3429000"/>
          </a:xfrm>
          <a:prstGeom prst="roundRect">
            <a:avLst/>
          </a:prstGeom>
          <a:solidFill>
            <a:srgbClr val="172740"/>
          </a:solidFill>
          <a:ln>
            <a:solidFill>
              <a:srgbClr val="486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575FC-B86A-F005-AAD7-E3A61FF02E08}"/>
              </a:ext>
            </a:extLst>
          </p:cNvPr>
          <p:cNvSpPr txBox="1"/>
          <p:nvPr/>
        </p:nvSpPr>
        <p:spPr>
          <a:xfrm>
            <a:off x="6583679" y="2212848"/>
            <a:ext cx="457200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3EBECC"/>
                </a:solidFill>
                <a:latin typeface="Aptos"/>
              </a:defRPr>
            </a:pPr>
            <a:r>
              <a:rPr lang="en-US" dirty="0"/>
              <a:t>RECIPE LIST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62691-B3D7-4C70-E89C-8A17567392AC}"/>
              </a:ext>
            </a:extLst>
          </p:cNvPr>
          <p:cNvSpPr/>
          <p:nvPr/>
        </p:nvSpPr>
        <p:spPr>
          <a:xfrm>
            <a:off x="6720840" y="2834640"/>
            <a:ext cx="4343400" cy="2057400"/>
          </a:xfrm>
          <a:prstGeom prst="rect">
            <a:avLst/>
          </a:prstGeom>
          <a:solidFill>
            <a:srgbClr val="20334F"/>
          </a:solidFill>
          <a:ln>
            <a:solidFill>
              <a:srgbClr val="B4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46D054-4354-855B-CC88-CA5CBB39B53C}"/>
              </a:ext>
            </a:extLst>
          </p:cNvPr>
          <p:cNvSpPr txBox="1"/>
          <p:nvPr/>
        </p:nvSpPr>
        <p:spPr>
          <a:xfrm>
            <a:off x="6675119" y="5074920"/>
            <a:ext cx="44348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0">
                <a:solidFill>
                  <a:srgbClr val="B4C1D3"/>
                </a:solidFill>
                <a:latin typeface="Aptos"/>
              </a:defRPr>
            </a:pPr>
            <a:r>
              <a:t>Insert approved/rejected result screenshot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B61CEB-ADD1-0CFD-B8DA-25232BFA4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480" y="6156434"/>
            <a:ext cx="1892397" cy="635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CC6796-0A41-F4CD-74ED-C6E7950B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483857"/>
            <a:ext cx="4571999" cy="2846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077A2C-B152-E295-6445-AA3E3C81E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279" y="2511390"/>
            <a:ext cx="4893569" cy="28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7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Results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1700784" y="1975104"/>
            <a:ext cx="7982712" cy="3922776"/>
          </a:xfrm>
          <a:prstGeom prst="roundRect">
            <a:avLst/>
          </a:prstGeom>
          <a:solidFill>
            <a:srgbClr val="172740"/>
          </a:solidFill>
          <a:ln>
            <a:solidFill>
              <a:srgbClr val="486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3532" y="2240280"/>
            <a:ext cx="45720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3EBECC"/>
                </a:solidFill>
                <a:latin typeface="Aptos"/>
              </a:defRPr>
            </a:pPr>
            <a:r>
              <a:rPr dirty="0"/>
              <a:t>BATCH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0008" y="2747772"/>
            <a:ext cx="6867144" cy="2839212"/>
          </a:xfrm>
          <a:prstGeom prst="rect">
            <a:avLst/>
          </a:prstGeom>
          <a:solidFill>
            <a:srgbClr val="20334F"/>
          </a:solidFill>
          <a:ln>
            <a:solidFill>
              <a:srgbClr val="B4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3993E9-D2AD-5533-BF8F-B88AEC1C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480" y="6156434"/>
            <a:ext cx="1892397" cy="635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89205D-9E71-2406-85FA-324898C3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9760"/>
            <a:ext cx="5053512" cy="3416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CF67CD-D6C1-05AB-01A6-34420031E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736" y="2659760"/>
            <a:ext cx="5169071" cy="341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8FAFD"/>
                </a:solidFill>
                <a:latin typeface="Aptos"/>
              </a:defRPr>
            </a:pPr>
            <a:r>
              <a:t>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B4C1D3"/>
                </a:solidFill>
                <a:latin typeface="Aptos"/>
              </a:defRPr>
            </a:pPr>
            <a:r>
              <a:t>Value today and opportunities to expand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685800" cy="50292"/>
          </a:xfrm>
          <a:prstGeom prst="rect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029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100" b="1">
                <a:solidFill>
                  <a:srgbClr val="3EBECC"/>
                </a:solidFill>
                <a:latin typeface="Aptos"/>
              </a:defRPr>
            </a:pPr>
            <a:r>
              <a:rPr lang="en-US" dirty="0"/>
              <a:t>1</a:t>
            </a:r>
            <a:r>
              <a:rPr dirty="0"/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029200" cy="34747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297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CURRENT VALUE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289864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9304" y="2788920"/>
            <a:ext cx="4087368" cy="5417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Reduces manual percentage calculations.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345871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9304" y="3348989"/>
            <a:ext cx="4087368" cy="5417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Applies consistent tolerance rules.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401878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9304" y="3909060"/>
            <a:ext cx="4087368" cy="5417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Provides a quick, understandable batch decision.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4578858"/>
            <a:ext cx="91440" cy="91440"/>
          </a:xfrm>
          <a:prstGeom prst="ellipse">
            <a:avLst/>
          </a:prstGeom>
          <a:solidFill>
            <a:srgbClr val="3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9304" y="4469130"/>
            <a:ext cx="4087368" cy="5417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Stores recipe and batch data for traceability.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65960"/>
            <a:ext cx="5029200" cy="3474720"/>
          </a:xfrm>
          <a:prstGeom prst="roundRect">
            <a:avLst/>
          </a:prstGeom>
          <a:solidFill>
            <a:srgbClr val="1D2F4B"/>
          </a:solidFill>
          <a:ln>
            <a:solidFill>
              <a:srgbClr val="1D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4297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3EBEC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2898648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75704" y="2788920"/>
            <a:ext cx="4087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User login, roles and audit history.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346704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75704" y="3236976"/>
            <a:ext cx="4087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Exportable batch reports (PDF / CSV).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794760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5704" y="3685032"/>
            <a:ext cx="4087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Barcode or QR-based batch identification.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4242816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5704" y="4133087"/>
            <a:ext cx="4087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Weighing-scale integration and alerts.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4690872"/>
            <a:ext cx="91440" cy="91440"/>
          </a:xfrm>
          <a:prstGeom prst="ellipse">
            <a:avLst/>
          </a:prstGeom>
          <a:solidFill>
            <a:srgbClr val="4A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75704" y="4581144"/>
            <a:ext cx="4087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Analytics for recurring deviations.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A86DAA-E3AA-9161-1DC3-180480BE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411" y="6222966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825496"/>
            <a:ext cx="105156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3600" b="1">
                <a:solidFill>
                  <a:srgbClr val="F8FAFD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1FCC4F-2D0E-92CF-0071-0AF1D801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603" y="6195535"/>
            <a:ext cx="1892397" cy="635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559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Mounitha ThirumalaReddy</cp:lastModifiedBy>
  <cp:revision>2</cp:revision>
  <dcterms:created xsi:type="dcterms:W3CDTF">2013-01-27T09:14:16Z</dcterms:created>
  <dcterms:modified xsi:type="dcterms:W3CDTF">2026-10-29T09:09:41Z</dcterms:modified>
  <cp:category/>
</cp:coreProperties>
</file>