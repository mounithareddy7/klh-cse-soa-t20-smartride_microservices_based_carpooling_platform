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 id="2147483660" r:id="rId2"/>
  </p:sldMasterIdLst>
  <p:notesMasterIdLst>
    <p:notesMasterId r:id="rId11"/>
  </p:notesMasterIdLst>
  <p:sldIdLst>
    <p:sldId id="262" r:id="rId3"/>
    <p:sldId id="707" r:id="rId4"/>
    <p:sldId id="257" r:id="rId5"/>
    <p:sldId id="903" r:id="rId6"/>
    <p:sldId id="902" r:id="rId7"/>
    <p:sldId id="258" r:id="rId8"/>
    <p:sldId id="259" r:id="rId9"/>
    <p:sldId id="260" r:id="rId1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6" d="100"/>
          <a:sy n="66" d="100"/>
        </p:scale>
        <p:origin x="668" y="3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viewProps" Target="viewProps.xml"/><Relationship Id="rId3" Type="http://schemas.openxmlformats.org/officeDocument/2006/relationships/slide" Target="slides/slide1.xml"/><Relationship Id="rId7" Type="http://schemas.openxmlformats.org/officeDocument/2006/relationships/slide" Target="slides/slide5.xml"/><Relationship Id="rId12" Type="http://schemas.openxmlformats.org/officeDocument/2006/relationships/presProps" Target="presProps.xml"/><Relationship Id="rId2" Type="http://schemas.openxmlformats.org/officeDocument/2006/relationships/slideMaster" Target="slideMasters/slideMaster2.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notesMaster" Target="notesMasters/notesMaster1.xml"/><Relationship Id="rId5" Type="http://schemas.openxmlformats.org/officeDocument/2006/relationships/slide" Target="slides/slide3.xml"/><Relationship Id="rId15" Type="http://schemas.openxmlformats.org/officeDocument/2006/relationships/tableStyles" Target="tableStyles.xml"/><Relationship Id="rId10" Type="http://schemas.openxmlformats.org/officeDocument/2006/relationships/slide" Target="slides/slide8.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84B03022-1F30-4885-B78F-22C04F8A973E}" type="doc">
      <dgm:prSet loTypeId="urn:microsoft.com/office/officeart/2005/8/layout/venn3" loCatId="relationship" qsTypeId="urn:microsoft.com/office/officeart/2005/8/quickstyle/3d7" qsCatId="3D" csTypeId="urn:microsoft.com/office/officeart/2005/8/colors/colorful1" csCatId="colorful" phldr="1"/>
      <dgm:spPr/>
      <dgm:t>
        <a:bodyPr/>
        <a:lstStyle/>
        <a:p>
          <a:endParaRPr lang="en-IN"/>
        </a:p>
      </dgm:t>
    </dgm:pt>
    <dgm:pt modelId="{4094C340-BA43-4FE7-BEDC-37D235AAAD16}" type="pres">
      <dgm:prSet presAssocID="{84B03022-1F30-4885-B78F-22C04F8A973E}" presName="Name0" presStyleCnt="0">
        <dgm:presLayoutVars>
          <dgm:dir/>
          <dgm:resizeHandles val="exact"/>
        </dgm:presLayoutVars>
      </dgm:prSet>
      <dgm:spPr/>
    </dgm:pt>
  </dgm:ptLst>
  <dgm:cxnLst>
    <dgm:cxn modelId="{536B444D-E965-4C7A-901B-8D59695FE972}" type="presOf" srcId="{84B03022-1F30-4885-B78F-22C04F8A973E}" destId="{4094C340-BA43-4FE7-BEDC-37D235AAAD16}" srcOrd="0" destOrd="0" presId="urn:microsoft.com/office/officeart/2005/8/layout/venn3"/>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Tree>
</dsp:drawing>
</file>

<file path=ppt/diagrams/layout1.xml><?xml version="1.0" encoding="utf-8"?>
<dgm:layoutDef xmlns:dgm="http://schemas.openxmlformats.org/drawingml/2006/diagram" xmlns:a="http://schemas.openxmlformats.org/drawingml/2006/main" uniqueId="urn:microsoft.com/office/officeart/2005/8/layout/venn3">
  <dgm:title val=""/>
  <dgm:desc val=""/>
  <dgm:catLst>
    <dgm:cat type="relationship" pri="29000"/>
  </dgm:catLst>
  <dgm:sampData>
    <dgm:dataModel>
      <dgm:ptLst>
        <dgm:pt modelId="0" type="doc"/>
        <dgm:pt modelId="1">
          <dgm:prSet phldr="1"/>
        </dgm:pt>
        <dgm:pt modelId="2">
          <dgm:prSet phldr="1"/>
        </dgm:pt>
        <dgm:pt modelId="3">
          <dgm:prSet phldr="1"/>
        </dgm:pt>
        <dgm:pt modelId="4">
          <dgm:prSet phldr="1"/>
        </dgm:pt>
      </dgm:ptLst>
      <dgm:cxnLst>
        <dgm:cxn modelId="5" srcId="0" destId="1" srcOrd="0" destOrd="0"/>
        <dgm:cxn modelId="6" srcId="0" destId="2" srcOrd="1" destOrd="0"/>
        <dgm:cxn modelId="7" srcId="0" destId="3" srcOrd="2" destOrd="0"/>
        <dgm:cxn modelId="8" srcId="0" destId="4" srcOrd="3"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param type="fallback" val="2D"/>
        </dgm:alg>
      </dgm:if>
      <dgm:else name="Name3">
        <dgm:alg type="lin">
          <dgm:param type="fallback" val="2D"/>
          <dgm:param type="linDir" val="fromR"/>
        </dgm:alg>
      </dgm:else>
    </dgm:choose>
    <dgm:shape xmlns:r="http://schemas.openxmlformats.org/officeDocument/2006/relationships" r:blip="">
      <dgm:adjLst/>
    </dgm:shape>
    <dgm:presOf/>
    <dgm:constrLst>
      <dgm:constr type="w" for="ch" ptType="node" refType="w"/>
      <dgm:constr type="h" for="ch" ptType="node" refType="w" refFor="ch" refPtType="node"/>
      <dgm:constr type="w" for="ch" forName="space" refType="w" refFor="ch" refPtType="node" fact="-0.2"/>
      <dgm:constr type="primFontSz" for="ch" ptType="node" op="equ" val="65"/>
    </dgm:constrLst>
    <dgm:ruleLst/>
    <dgm:forEach name="Name4" axis="ch" ptType="node">
      <dgm:layoutNode name="Name5" styleLbl="vennNode1">
        <dgm:varLst>
          <dgm:bulletEnabled val="1"/>
        </dgm:varLst>
        <dgm:alg type="tx">
          <dgm:param type="txAnchorVertCh" val="mid"/>
          <dgm:param type="txAnchorHorzCh" val="ctr"/>
        </dgm:alg>
        <dgm:shape xmlns:r="http://schemas.openxmlformats.org/officeDocument/2006/relationships" type="ellipse" r:blip="">
          <dgm:adjLst/>
        </dgm:shape>
        <dgm:presOf axis="desOrSelf" ptType="node"/>
        <dgm:constrLst>
          <dgm:constr type="tMarg" refType="primFontSz" fact="0.1"/>
          <dgm:constr type="bMarg" refType="primFontSz" fact="0.1"/>
          <dgm:constr type="lMarg" refType="w" fact="0.156"/>
          <dgm:constr type="rMarg" refType="w" fact="0.156"/>
        </dgm:constrLst>
        <dgm:ruleLst>
          <dgm:rule type="primFontSz" val="5" fact="NaN" max="NaN"/>
        </dgm:ruleLst>
      </dgm:layoutNode>
      <dgm:forEach name="Name6" axis="followSib" ptType="sibTrans" cnt="1">
        <dgm:layoutNode name="space">
          <dgm:alg type="sp"/>
          <dgm:shape xmlns:r="http://schemas.openxmlformats.org/officeDocument/2006/relationships" r:blip="">
            <dgm:adjLst/>
          </dgm:shape>
          <dgm:presOf/>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3d7">
  <dgm:title val=""/>
  <dgm:desc val=""/>
  <dgm:catLst>
    <dgm:cat type="3D" pri="11700"/>
  </dgm:catLst>
  <dgm:scene3d>
    <a:camera prst="perspectiveLeft" zoom="91000"/>
    <a:lightRig rig="threePt" dir="t">
      <a:rot lat="0" lon="0" rev="20640000"/>
    </a:lightRig>
  </dgm:scene3d>
  <dgm:styleLbl name="node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lnNod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vennNode1">
    <dgm:scene3d>
      <a:camera prst="orthographicFront"/>
      <a:lightRig rig="threePt" dir="t"/>
    </dgm:scene3d>
    <dgm:sp3d extrusionH="50600" prstMaterial="clear">
      <a:bevelT w="101600" h="80600" prst="relaxedInset"/>
      <a:bevelB w="80600" h="80600" prst="relaxedInset"/>
    </dgm:sp3d>
    <dgm:txPr/>
    <dgm:style>
      <a:lnRef idx="0">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extrusionH="50600" prstMaterial="metal">
      <a:bevelT w="101600" h="80600" prst="relaxedInset"/>
      <a:bevelB w="80600" h="80600" prst="relaxedInset"/>
    </dgm:sp3d>
    <dgm:txPr/>
    <dgm:style>
      <a:lnRef idx="1">
        <a:scrgbClr r="0" g="0" b="0"/>
      </a:lnRef>
      <a:fillRef idx="1">
        <a:scrgbClr r="0" g="0" b="0"/>
      </a:fillRef>
      <a:effectRef idx="1">
        <a:scrgbClr r="0" g="0" b="0"/>
      </a:effectRef>
      <a:fontRef idx="minor">
        <a:schemeClr val="dk1"/>
      </a:fontRef>
    </dgm:style>
  </dgm:styleLbl>
  <dgm:styleLbl name="node1">
    <dgm:scene3d>
      <a:camera prst="orthographicFront"/>
      <a:lightRig rig="threePt" dir="t"/>
    </dgm:scene3d>
    <dgm:sp3d extrusionH="50600" prstMaterial="metal">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node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fgImgPlace1">
    <dgm:scene3d>
      <a:camera prst="orthographicFront"/>
      <a:lightRig rig="threePt" dir="t"/>
    </dgm:scene3d>
    <dgm:sp3d z="572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alignImgPlace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dgm:style>
  </dgm:styleLbl>
  <dgm:styleLbl name="bgImgPlace1">
    <dgm:scene3d>
      <a:camera prst="orthographicFront"/>
      <a:lightRig rig="threePt" dir="t"/>
    </dgm:scene3d>
    <dgm:sp3d z="-211800" extrusionH="10600" prstMaterial="plastic">
      <a:bevelT w="101600" h="8600" prst="relaxedInset"/>
      <a:bevelB w="8600" h="8600" prst="relaxedInset"/>
    </dgm:sp3d>
    <dgm:txPr/>
    <dgm:style>
      <a:lnRef idx="0">
        <a:scrgbClr r="0" g="0" b="0"/>
      </a:lnRef>
      <a:fillRef idx="1">
        <a:scrgbClr r="0" g="0" b="0"/>
      </a:fillRef>
      <a:effectRef idx="1">
        <a:scrgbClr r="0" g="0" b="0"/>
      </a:effectRef>
      <a:fontRef idx="minor"/>
    </dgm:style>
  </dgm:styleLbl>
  <dgm:styleLbl name="sibTrans2D1">
    <dgm:scene3d>
      <a:camera prst="orthographicFront"/>
      <a:lightRig rig="threePt" dir="t"/>
    </dgm:scene3d>
    <dgm:sp3d z="-110000">
      <a:bevelT w="40600" h="20600" prst="relaxedInset"/>
    </dgm:sp3d>
    <dgm:txPr/>
    <dgm:style>
      <a:lnRef idx="0">
        <a:scrgbClr r="0" g="0" b="0"/>
      </a:lnRef>
      <a:fillRef idx="1">
        <a:scrgbClr r="0" g="0" b="0"/>
      </a:fillRef>
      <a:effectRef idx="2">
        <a:scrgbClr r="0" g="0" b="0"/>
      </a:effectRef>
      <a:fontRef idx="minor"/>
    </dgm:style>
  </dgm:styleLbl>
  <dgm:styleLbl name="fgSibTrans2D1">
    <dgm:scene3d>
      <a:camera prst="orthographicFront"/>
      <a:lightRig rig="threePt" dir="t"/>
    </dgm:scene3d>
    <dgm:sp3d z="10600">
      <a:bevelT w="40600" h="20600" prst="relaxedInset"/>
    </dgm:sp3d>
    <dgm:txPr/>
    <dgm:style>
      <a:lnRef idx="0">
        <a:scrgbClr r="0" g="0" b="0"/>
      </a:lnRef>
      <a:fillRef idx="1">
        <a:scrgbClr r="0" g="0" b="0"/>
      </a:fillRef>
      <a:effectRef idx="2">
        <a:scrgbClr r="0" g="0" b="0"/>
      </a:effectRef>
      <a:fontRef idx="minor"/>
    </dgm:style>
  </dgm:styleLbl>
  <dgm:styleLbl name="bgSibTrans2D1">
    <dgm:scene3d>
      <a:camera prst="orthographicFront"/>
      <a:lightRig rig="threePt" dir="t"/>
    </dgm:scene3d>
    <dgm:sp3d z="-211800">
      <a:bevelT w="40600" h="20600" prst="relaxedInset"/>
    </dgm:sp3d>
    <dgm:txPr/>
    <dgm:style>
      <a:lnRef idx="0">
        <a:scrgbClr r="0" g="0" b="0"/>
      </a:lnRef>
      <a:fillRef idx="1">
        <a:scrgbClr r="0" g="0" b="0"/>
      </a:fillRef>
      <a:effectRef idx="2">
        <a:scrgbClr r="0" g="0" b="0"/>
      </a:effectRef>
      <a:fontRef idx="minor"/>
    </dgm:style>
  </dgm:styleLbl>
  <dgm:styleLbl name="sibTrans1D1">
    <dgm:scene3d>
      <a:camera prst="orthographicFront"/>
      <a:lightRig rig="threePt" dir="t"/>
    </dgm:scene3d>
    <dgm:sp3d z="-110000"/>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z="10000"/>
    <dgm:txPr/>
    <dgm:style>
      <a:lnRef idx="1">
        <a:scrgbClr r="0" g="0" b="0"/>
      </a:lnRef>
      <a:fillRef idx="1">
        <a:scrgbClr r="0" g="0" b="0"/>
      </a:fillRef>
      <a:effectRef idx="0">
        <a:scrgbClr r="0" g="0" b="0"/>
      </a:effectRef>
      <a:fontRef idx="minor"/>
    </dgm:style>
  </dgm:styleLbl>
  <dgm:styleLbl name="asst0">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1">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2">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3">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asst4">
    <dgm:scene3d>
      <a:camera prst="orthographicFront"/>
      <a:lightRig rig="threePt" dir="t"/>
    </dgm:scene3d>
    <dgm:sp3d extrusionH="50600" prstMaterial="plastic">
      <a:bevelT w="101600" h="80600" prst="relaxedInset"/>
      <a:bevelB w="80600" h="80600" prst="relaxedInset"/>
    </dgm:sp3d>
    <dgm:txPr/>
    <dgm:style>
      <a:lnRef idx="0">
        <a:scrgbClr r="0" g="0" b="0"/>
      </a:lnRef>
      <a:fillRef idx="1">
        <a:scrgbClr r="0" g="0" b="0"/>
      </a:fillRef>
      <a:effectRef idx="1">
        <a:scrgbClr r="0" g="0" b="0"/>
      </a:effectRef>
      <a:fontRef idx="minor">
        <a:schemeClr val="dk1"/>
      </a:fontRef>
    </dgm:style>
  </dgm:styleLbl>
  <dgm:styleLbl name="parChTrans2D1">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2">
    <dgm:scene3d>
      <a:camera prst="orthographicFront"/>
      <a:lightRig rig="threePt" dir="t"/>
    </dgm:scene3d>
    <dgm:sp3d z="-110000">
      <a:bevelT w="40600" h="20600" prst="relaxedInset"/>
    </dgm:sp3d>
    <dgm:txPr/>
    <dgm:style>
      <a:lnRef idx="0">
        <a:scrgbClr r="0" g="0" b="0"/>
      </a:lnRef>
      <a:fillRef idx="1">
        <a:scrgbClr r="0" g="0" b="0"/>
      </a:fillRef>
      <a:effectRef idx="0">
        <a:scrgbClr r="0" g="0" b="0"/>
      </a:effectRef>
      <a:fontRef idx="minor"/>
    </dgm:style>
  </dgm:styleLbl>
  <dgm:styleLbl name="parChTrans2D3">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2D4">
    <dgm:scene3d>
      <a:camera prst="orthographicFront"/>
      <a:lightRig rig="threePt" dir="t"/>
    </dgm:scene3d>
    <dgm:sp3d z="-110000"/>
    <dgm:txPr/>
    <dgm:style>
      <a:lnRef idx="0">
        <a:scrgbClr r="0" g="0" b="0"/>
      </a:lnRef>
      <a:fillRef idx="1">
        <a:scrgbClr r="0" g="0" b="0"/>
      </a:fillRef>
      <a:effectRef idx="0">
        <a:scrgbClr r="0" g="0" b="0"/>
      </a:effectRef>
      <a:fontRef idx="minor"/>
    </dgm:style>
  </dgm:styleLbl>
  <dgm:styleLbl name="parChTrans1D1">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z="-110000"/>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extrusionH="50600">
      <a:bevelT w="101600" h="80600"/>
      <a:bevelB w="80600" h="80600"/>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extrusionH="50600">
      <a:bevelT w="101600" h="80600"/>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z="-161800" extrusionH="10600" prstMaterial="matte">
      <a:bevelT w="90600" h="18600" prst="softRound"/>
      <a:bevelB w="48600" h="8600" prst="relaxedInset"/>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solidAlignAcc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solidBgAcc1">
    <dgm:scene3d>
      <a:camera prst="orthographicFront"/>
      <a:lightRig rig="threePt" dir="t"/>
    </dgm:scene3d>
    <dgm:sp3d z="-161800" extrusionH="10600" contourW="3000">
      <a:bevelT w="48600" h="8600" prst="softRound"/>
      <a:bevelB w="48600" h="8600" prst="relaxedInset"/>
    </dgm:sp3d>
    <dgm:txPr/>
    <dgm:style>
      <a:lnRef idx="0">
        <a:scrgbClr r="0" g="0" b="0"/>
      </a:lnRef>
      <a:fillRef idx="1">
        <a:scrgbClr r="0" g="0" b="0"/>
      </a:fillRef>
      <a:effectRef idx="0">
        <a:scrgbClr r="0" g="0" b="0"/>
      </a:effectRef>
      <a:fontRef idx="minor"/>
    </dgm:style>
  </dgm:styleLbl>
  <dgm:styleLbl name="fgAccFollowNode1">
    <dgm:scene3d>
      <a:camera prst="orthographicFront"/>
      <a:lightRig rig="threePt" dir="t"/>
    </dgm:scene3d>
    <dgm:sp3d z="572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alignAccFollowNode1">
    <dgm:scene3d>
      <a:camera prst="orthographicFront"/>
      <a:lightRig rig="threePt" dir="t"/>
    </dgm:scene3d>
    <dgm:sp3d extrusionH="50600" contourW="3000">
      <a:bevelT w="101600" h="80600" prst="relaxedInset"/>
      <a:bevelB w="80600" h="80600" prst="relaxedInset"/>
    </dgm:sp3d>
    <dgm:txPr/>
    <dgm:style>
      <a:lnRef idx="0">
        <a:scrgbClr r="0" g="0" b="0"/>
      </a:lnRef>
      <a:fillRef idx="1">
        <a:scrgbClr r="0" g="0" b="0"/>
      </a:fillRef>
      <a:effectRef idx="0">
        <a:scrgbClr r="0" g="0" b="0"/>
      </a:effectRef>
      <a:fontRef idx="minor"/>
    </dgm:style>
  </dgm:styleLbl>
  <dgm:styleLbl name="bgAccFollowNode1">
    <dgm:scene3d>
      <a:camera prst="orthographicFront"/>
      <a:lightRig rig="threePt" dir="t"/>
    </dgm:scene3d>
    <dgm:sp3d z="-161800" extrusionH="10600" contourW="3000">
      <a:bevelT w="48600" h="8600" prst="relaxedInset"/>
      <a:bevelB w="48600" h="8600" prst="relaxedInset"/>
    </dgm:sp3d>
    <dgm:txPr/>
    <dgm:style>
      <a:lnRef idx="0">
        <a:scrgbClr r="0" g="0" b="0"/>
      </a:lnRef>
      <a:fillRef idx="1">
        <a:scrgbClr r="0" g="0" b="0"/>
      </a:fillRef>
      <a:effectRef idx="0">
        <a:scrgbClr r="0" g="0" b="0"/>
      </a:effectRef>
      <a:fontRef idx="minor"/>
    </dgm:style>
  </dgm:styleLbl>
  <dgm:styleLbl name="fgAcc0">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z="57200" extrusionH="600" contourW="3000">
      <a:bevelT w="48600" h="18600" prst="relaxedInset"/>
      <a:bevelB w="48600" h="8600" prst="relaxedInset"/>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z="-161800" extrusionH="600" contourW="3000">
      <a:bevelT w="48600" h="18600" prst="relaxedInset"/>
      <a:bevelB w="48600" h="8600" prst="relaxedInset"/>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extrusionH="50600">
      <a:bevelT w="80600" h="80600" prst="relaxedInset"/>
      <a:bevelB w="80600" h="80600" prst="relaxedInset"/>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z="-152400" prstMaterial="matte"/>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z="57200" extrusionH="600" contourW="3000" prstMaterial="plastic">
      <a:bevelT w="80600" h="18600" prst="relaxedInset"/>
      <a:bevelB w="80600" h="8600" prst="relaxedInset"/>
    </dgm:sp3d>
    <dgm:txPr/>
    <dgm:style>
      <a:lnRef idx="0">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3A666E0-C270-4F2D-A5DC-96BE795B540E}" type="datetimeFigureOut">
              <a:rPr lang="en-US" smtClean="0"/>
              <a:t>8/19/2026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F19044B-B5AF-477C-950C-4ED51263438D}" type="slidenum">
              <a:rPr lang="en-US" smtClean="0"/>
              <a:t>‹#›</a:t>
            </a:fld>
            <a:endParaRPr lang="en-US"/>
          </a:p>
        </p:txBody>
      </p:sp>
    </p:spTree>
    <p:extLst>
      <p:ext uri="{BB962C8B-B14F-4D97-AF65-F5344CB8AC3E}">
        <p14:creationId xmlns:p14="http://schemas.microsoft.com/office/powerpoint/2010/main" val="22086060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txBody>
          <a:bodyPr/>
          <a:lstStyle/>
          <a:p>
            <a:endParaRPr lang="en-US"/>
          </a:p>
        </p:txBody>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BF84AE20-9EAE-4BB7-93AC-7EFA05BCA1CF}" type="slidenum">
              <a:rPr lang="en-IN" smtClean="0"/>
              <a:t>1</a:t>
            </a:fld>
            <a:endParaRPr lang="en-IN" dirty="0"/>
          </a:p>
        </p:txBody>
      </p:sp>
    </p:spTree>
    <p:extLst>
      <p:ext uri="{BB962C8B-B14F-4D97-AF65-F5344CB8AC3E}">
        <p14:creationId xmlns:p14="http://schemas.microsoft.com/office/powerpoint/2010/main" val="22274734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CE162C7A-CC9D-4035-A213-68F795EB7A2A}" type="slidenum">
              <a:rPr lang="en-IN" smtClean="0"/>
              <a:t>5</a:t>
            </a:fld>
            <a:endParaRPr lang="en-IN"/>
          </a:p>
        </p:txBody>
      </p:sp>
    </p:spTree>
    <p:extLst>
      <p:ext uri="{BB962C8B-B14F-4D97-AF65-F5344CB8AC3E}">
        <p14:creationId xmlns:p14="http://schemas.microsoft.com/office/powerpoint/2010/main" val="16477035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CE2BE77-A6B4-BF9A-F59F-6A1C17E6D454}"/>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69F4D497-63DE-C270-40A4-331A37D0B0E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07809C3A-1739-D230-186B-84454F605084}"/>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F5A63778-C058-1235-D3A3-7BCFF3CD01AB}"/>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F09A1708-DD63-B8A6-CDE5-A057B2CF873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40869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C8A0280-1254-E679-102E-D8CC13C8C698}"/>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3784D78-2E62-1C74-D557-5115FDC295BF}"/>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1B02B77-F303-2F09-80CB-35B74D2F58C9}"/>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A13359BF-B012-085F-389A-331E721BC90C}"/>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821B0460-9CE8-D43D-79E7-A7A9144A3AD0}"/>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263016232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F787D46-3DEF-526E-5F46-4ADACBEC0AC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C55A517A-D5B3-3AF2-38BE-1D89988138B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AD602125-0289-3272-156D-A3C31E848252}"/>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659971A6-CC5A-CC09-A1F2-E284284E873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049898D5-FC90-9DA1-FE2F-D07DEDDAD616}"/>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03995245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389433-0D52-95EF-D78E-4FC912D4FCA5}"/>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0F1A2DAE-6EF3-6910-5373-1A5DF409095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D991AE70-38B9-B797-DE71-57CAE4C82D24}"/>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3725E50E-F402-07A4-460F-3431CA999232}"/>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6" name="Footer Placeholder 5">
            <a:extLst>
              <a:ext uri="{FF2B5EF4-FFF2-40B4-BE49-F238E27FC236}">
                <a16:creationId xmlns:a16="http://schemas.microsoft.com/office/drawing/2014/main" id="{664D7A32-7B4B-0167-CBD3-4FB4F42F73A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EB928D-DF00-B9C5-1A36-1E52C14CBBB7}"/>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467198410"/>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CFE06-EEED-5CC3-A38A-576DD2C8AF0F}"/>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EDB0BA8C-9EDE-BB49-BD35-49BAFCB8D3F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3E1DDD39-7D2C-4493-F56F-81F6BC3F98DB}"/>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3714469B-6213-D34D-07A9-FCDC82AC0F18}"/>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46440F3-3F2D-85CC-D2E2-6D0D54B8A292}"/>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AD346DE1-9818-60AF-EAF8-FFED39BA5E89}"/>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8" name="Footer Placeholder 7">
            <a:extLst>
              <a:ext uri="{FF2B5EF4-FFF2-40B4-BE49-F238E27FC236}">
                <a16:creationId xmlns:a16="http://schemas.microsoft.com/office/drawing/2014/main" id="{265E9E00-6460-F360-EDFD-B03FBA2C63B4}"/>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1ABFFDD7-5BFE-EA3B-6250-A381A569564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362514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98CE0FC-511C-2C2C-E510-CDDF263418EF}"/>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5C796671-3C71-777F-3A4D-A89D7E5D68FA}"/>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4" name="Footer Placeholder 3">
            <a:extLst>
              <a:ext uri="{FF2B5EF4-FFF2-40B4-BE49-F238E27FC236}">
                <a16:creationId xmlns:a16="http://schemas.microsoft.com/office/drawing/2014/main" id="{30024A6A-95A8-2753-339B-FC09D4CAEB87}"/>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859E07AF-B1A0-E180-D5AC-3F2F0031C98B}"/>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18246628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A8527A8-9BA5-6E6B-9B96-E6F6FADC46A2}"/>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3" name="Footer Placeholder 2">
            <a:extLst>
              <a:ext uri="{FF2B5EF4-FFF2-40B4-BE49-F238E27FC236}">
                <a16:creationId xmlns:a16="http://schemas.microsoft.com/office/drawing/2014/main" id="{4EAB8C98-6C07-7CF9-228C-EF7E6514747A}"/>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72347070-DD15-038E-31F6-EF9EAD920E5F}"/>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134832149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528049-15BD-A06B-510D-51342C765D0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0B77F51D-EFF8-F91B-8F7D-613493BF844D}"/>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3443686E-4EC3-3B25-F2B1-DEF00AA476FC}"/>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0E24C9A3-A390-80A1-50AD-21AB6B252580}"/>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6" name="Footer Placeholder 5">
            <a:extLst>
              <a:ext uri="{FF2B5EF4-FFF2-40B4-BE49-F238E27FC236}">
                <a16:creationId xmlns:a16="http://schemas.microsoft.com/office/drawing/2014/main" id="{E83FB16C-3A67-2F8D-2205-B1FF3BE2C63B}"/>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ED137A69-0E62-6668-A184-42A6DBF6B07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408948070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48AFB01-3CD4-CFD9-5A71-411262FAAC8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E9DCEFF8-AB3F-42A6-ADAF-1080336CCBE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63914F7C-5D5A-7C5D-50F2-B5067E1E613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AE767C3-2493-217A-8E1D-03F6BBB4ACBD}"/>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6" name="Footer Placeholder 5">
            <a:extLst>
              <a:ext uri="{FF2B5EF4-FFF2-40B4-BE49-F238E27FC236}">
                <a16:creationId xmlns:a16="http://schemas.microsoft.com/office/drawing/2014/main" id="{348FEBF7-64BD-7F85-1240-C02E3705BD10}"/>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70064DB1-56E3-B1C9-BED9-904A25C29434}"/>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21297368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EBCD61-B1C9-A34D-6022-ADB9D4B22C3D}"/>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6124F7E8-10E7-E6C8-474D-2A06ED50159B}"/>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CCE7D405-5D32-C40F-1430-5F5A97DD4FAF}"/>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7BD9955A-6D2E-8ABB-AF09-EC9590F01F84}"/>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19E1B21-A5D1-C625-FE7B-A0232576A69A}"/>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91788634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F5699036-2042-AC93-5117-4059611F3CE7}"/>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F22DD23D-712F-710C-F8D8-B4B2B3E05926}"/>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89095516-E45F-6DA1-08EA-04E781DF5CCB}"/>
              </a:ext>
            </a:extLst>
          </p:cNvPr>
          <p:cNvSpPr>
            <a:spLocks noGrp="1"/>
          </p:cNvSpPr>
          <p:nvPr>
            <p:ph type="dt" sz="half" idx="10"/>
          </p:nvPr>
        </p:nvSpPr>
        <p:spPr/>
        <p:txBody>
          <a:body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8B171DB9-D5C7-9EFA-0532-06B0BAAF4177}"/>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94735D92-5A89-BE34-CC33-93F56B3EDB49}"/>
              </a:ext>
            </a:extLst>
          </p:cNvPr>
          <p:cNvSpPr>
            <a:spLocks noGrp="1"/>
          </p:cNvSpPr>
          <p:nvPr>
            <p:ph type="sldNum" sz="quarter" idx="12"/>
          </p:nvPr>
        </p:nvSpPr>
        <p:spPr/>
        <p:txBody>
          <a:bodyPr/>
          <a:lstStyle/>
          <a:p>
            <a:fld id="{E639234F-78F1-4984-9C4D-D4C7AB587871}" type="slidenum">
              <a:rPr lang="en-US" smtClean="0"/>
              <a:t>‹#›</a:t>
            </a:fld>
            <a:endParaRPr lang="en-US"/>
          </a:p>
        </p:txBody>
      </p:sp>
    </p:spTree>
    <p:extLst>
      <p:ext uri="{BB962C8B-B14F-4D97-AF65-F5344CB8AC3E}">
        <p14:creationId xmlns:p14="http://schemas.microsoft.com/office/powerpoint/2010/main" val="338734959"/>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31F6EA6A-8FF5-49DF-BDDD-F7431B447D8F}"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08086027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F411EB6-9770-43AB-BBCE-044F1DB66B82}"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348298341"/>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BDC905DC-9CDD-41AE-979C-F366BC0443ED}"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27399230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384FAC05-A025-4B8A-AB88-2AE8812F8A48}" type="datetime3">
              <a:rPr lang="en-US" smtClean="0"/>
              <a:t>19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7190834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87906D5-6813-455D-BAA0-28A983958C32}" type="datetime3">
              <a:rPr lang="en-US" smtClean="0"/>
              <a:t>19 August 2026</a:t>
            </a:fld>
            <a:endParaRPr lang="en-IN"/>
          </a:p>
        </p:txBody>
      </p:sp>
      <p:sp>
        <p:nvSpPr>
          <p:cNvPr id="8" name="Footer Placeholder 7"/>
          <p:cNvSpPr>
            <a:spLocks noGrp="1"/>
          </p:cNvSpPr>
          <p:nvPr>
            <p:ph type="ftr" sz="quarter" idx="11"/>
          </p:nvPr>
        </p:nvSpPr>
        <p:spPr/>
        <p:txBody>
          <a:bodyPr/>
          <a:lstStyle/>
          <a:p>
            <a:r>
              <a:rPr lang="en-IN"/>
              <a:t>Ph.D. Viva Voce</a:t>
            </a:r>
          </a:p>
        </p:txBody>
      </p:sp>
      <p:sp>
        <p:nvSpPr>
          <p:cNvPr id="9" name="Slide Number Placeholder 8"/>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57848570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BF4309C4-DF5F-4FAA-9214-A2117415D598}" type="datetime3">
              <a:rPr lang="en-US" smtClean="0"/>
              <a:t>19 August 2026</a:t>
            </a:fld>
            <a:endParaRPr lang="en-IN"/>
          </a:p>
        </p:txBody>
      </p:sp>
      <p:sp>
        <p:nvSpPr>
          <p:cNvPr id="4" name="Footer Placeholder 3"/>
          <p:cNvSpPr>
            <a:spLocks noGrp="1"/>
          </p:cNvSpPr>
          <p:nvPr>
            <p:ph type="ftr" sz="quarter" idx="11"/>
          </p:nvPr>
        </p:nvSpPr>
        <p:spPr/>
        <p:txBody>
          <a:bodyPr/>
          <a:lstStyle/>
          <a:p>
            <a:r>
              <a:rPr lang="en-IN"/>
              <a:t>Ph.D. Viva Voce</a:t>
            </a:r>
          </a:p>
        </p:txBody>
      </p:sp>
      <p:sp>
        <p:nvSpPr>
          <p:cNvPr id="5" name="Slide Number Placeholder 4"/>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733884918"/>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4683E30-D762-4164-BBF9-9799116ED611}" type="datetime3">
              <a:rPr lang="en-US" smtClean="0"/>
              <a:t>19 August 2026</a:t>
            </a:fld>
            <a:endParaRPr lang="en-IN"/>
          </a:p>
        </p:txBody>
      </p:sp>
      <p:sp>
        <p:nvSpPr>
          <p:cNvPr id="3" name="Footer Placeholder 2"/>
          <p:cNvSpPr>
            <a:spLocks noGrp="1"/>
          </p:cNvSpPr>
          <p:nvPr>
            <p:ph type="ftr" sz="quarter" idx="11"/>
          </p:nvPr>
        </p:nvSpPr>
        <p:spPr/>
        <p:txBody>
          <a:bodyPr/>
          <a:lstStyle/>
          <a:p>
            <a:r>
              <a:rPr lang="en-IN"/>
              <a:t>Ph.D. Viva Voce</a:t>
            </a:r>
          </a:p>
        </p:txBody>
      </p:sp>
      <p:sp>
        <p:nvSpPr>
          <p:cNvPr id="4" name="Slide Number Placeholder 3"/>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67188672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C7EEB4AA-F6FE-4EF1-9FE6-D5606E858D35}" type="datetime3">
              <a:rPr lang="en-US" smtClean="0"/>
              <a:t>19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047491787"/>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97B547F9-D0DE-4919-BAA4-23065C38E70B}" type="datetime3">
              <a:rPr lang="en-US" smtClean="0"/>
              <a:t>19 August 2026</a:t>
            </a:fld>
            <a:endParaRPr lang="en-IN"/>
          </a:p>
        </p:txBody>
      </p:sp>
      <p:sp>
        <p:nvSpPr>
          <p:cNvPr id="6" name="Footer Placeholder 5"/>
          <p:cNvSpPr>
            <a:spLocks noGrp="1"/>
          </p:cNvSpPr>
          <p:nvPr>
            <p:ph type="ftr" sz="quarter" idx="11"/>
          </p:nvPr>
        </p:nvSpPr>
        <p:spPr/>
        <p:txBody>
          <a:bodyPr/>
          <a:lstStyle/>
          <a:p>
            <a:r>
              <a:rPr lang="en-IN"/>
              <a:t>Ph.D. Viva Voce</a:t>
            </a:r>
          </a:p>
        </p:txBody>
      </p:sp>
      <p:sp>
        <p:nvSpPr>
          <p:cNvPr id="7" name="Slide Number Placeholder 6"/>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10463319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830D9772-7494-4C65-A0D8-1FBD740B2E65}"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3307584009"/>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CBB089DC-0019-49C7-8AD2-EF5D896393D8}" type="datetime3">
              <a:rPr lang="en-US" smtClean="0"/>
              <a:t>19 August 2026</a:t>
            </a:fld>
            <a:endParaRPr lang="en-IN"/>
          </a:p>
        </p:txBody>
      </p:sp>
      <p:sp>
        <p:nvSpPr>
          <p:cNvPr id="5" name="Footer Placeholder 4"/>
          <p:cNvSpPr>
            <a:spLocks noGrp="1"/>
          </p:cNvSpPr>
          <p:nvPr>
            <p:ph type="ftr" sz="quarter" idx="11"/>
          </p:nvPr>
        </p:nvSpPr>
        <p:spPr/>
        <p:txBody>
          <a:bodyPr/>
          <a:lstStyle/>
          <a:p>
            <a:r>
              <a:rPr lang="en-IN"/>
              <a:t>Ph.D. Viva Voce</a:t>
            </a:r>
          </a:p>
        </p:txBody>
      </p:sp>
      <p:sp>
        <p:nvSpPr>
          <p:cNvPr id="6" name="Slide Number Placeholder 5"/>
          <p:cNvSpPr>
            <a:spLocks noGrp="1"/>
          </p:cNvSpPr>
          <p:nvPr>
            <p:ph type="sldNum" sz="quarter" idx="12"/>
          </p:nvPr>
        </p:nvSpPr>
        <p:spPr/>
        <p:txBody>
          <a:bodyPr/>
          <a:lstStyle/>
          <a:p>
            <a:fld id="{01AD1135-6E10-4422-AC8B-257B84239C9C}" type="slidenum">
              <a:rPr lang="en-IN" smtClean="0"/>
              <a:t>‹#›</a:t>
            </a:fld>
            <a:endParaRPr lang="en-IN"/>
          </a:p>
        </p:txBody>
      </p:sp>
    </p:spTree>
    <p:extLst>
      <p:ext uri="{BB962C8B-B14F-4D97-AF65-F5344CB8AC3E}">
        <p14:creationId xmlns:p14="http://schemas.microsoft.com/office/powerpoint/2010/main" val="420459547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69711898-360B-AD49-DD62-FA3B7B66269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51A2BE89-A274-4461-2B81-5058744631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C4B2A70-C1DC-D783-67E1-97822E79A51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E227863A-4956-4659-9192-3D74DA4F7578}" type="datetimeFigureOut">
              <a:rPr lang="en-US" smtClean="0"/>
              <a:t>8/19/2026</a:t>
            </a:fld>
            <a:endParaRPr lang="en-US"/>
          </a:p>
        </p:txBody>
      </p:sp>
      <p:sp>
        <p:nvSpPr>
          <p:cNvPr id="5" name="Footer Placeholder 4">
            <a:extLst>
              <a:ext uri="{FF2B5EF4-FFF2-40B4-BE49-F238E27FC236}">
                <a16:creationId xmlns:a16="http://schemas.microsoft.com/office/drawing/2014/main" id="{08C5D01A-229C-E067-7B4E-BC254D65441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50741767-E51C-1DAB-E3C8-F047E87A83D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E639234F-78F1-4984-9C4D-D4C7AB587871}" type="slidenum">
              <a:rPr lang="en-US" smtClean="0"/>
              <a:t>‹#›</a:t>
            </a:fld>
            <a:endParaRPr lang="en-US"/>
          </a:p>
        </p:txBody>
      </p:sp>
    </p:spTree>
    <p:extLst>
      <p:ext uri="{BB962C8B-B14F-4D97-AF65-F5344CB8AC3E}">
        <p14:creationId xmlns:p14="http://schemas.microsoft.com/office/powerpoint/2010/main" val="164563733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E16266A-CA82-4709-A4C2-B8B2AD8F4816}" type="datetime3">
              <a:rPr lang="en-US" smtClean="0"/>
              <a:t>19 August 2026</a:t>
            </a:fld>
            <a:endParaRPr lang="en-IN"/>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r>
              <a:rPr lang="en-IN"/>
              <a:t>Ph.D. Viva Voce</a:t>
            </a:r>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1AD1135-6E10-4422-AC8B-257B84239C9C}" type="slidenum">
              <a:rPr lang="en-IN" smtClean="0"/>
              <a:t>‹#›</a:t>
            </a:fld>
            <a:endParaRPr lang="en-IN"/>
          </a:p>
        </p:txBody>
      </p:sp>
    </p:spTree>
    <p:extLst>
      <p:ext uri="{BB962C8B-B14F-4D97-AF65-F5344CB8AC3E}">
        <p14:creationId xmlns:p14="http://schemas.microsoft.com/office/powerpoint/2010/main" val="2913766455"/>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hf hd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microsoft.com/office/2007/relationships/diagramDrawing" Target="../diagrams/drawing1.xml"/><Relationship Id="rId3" Type="http://schemas.openxmlformats.org/officeDocument/2006/relationships/hyperlink" Target="https://svgsilh.com/03a9f4/image/98809.html" TargetMode="External"/><Relationship Id="rId7" Type="http://schemas.openxmlformats.org/officeDocument/2006/relationships/diagramColors" Target="../diagrams/colors1.xml"/><Relationship Id="rId2" Type="http://schemas.openxmlformats.org/officeDocument/2006/relationships/image" Target="../media/image2.svg"/><Relationship Id="rId1" Type="http://schemas.openxmlformats.org/officeDocument/2006/relationships/slideLayout" Target="../slideLayouts/slideLayout18.xml"/><Relationship Id="rId6" Type="http://schemas.openxmlformats.org/officeDocument/2006/relationships/diagramQuickStyle" Target="../diagrams/quickStyle1.xml"/><Relationship Id="rId5" Type="http://schemas.openxmlformats.org/officeDocument/2006/relationships/diagramLayout" Target="../diagrams/layout1.xml"/><Relationship Id="rId4" Type="http://schemas.openxmlformats.org/officeDocument/2006/relationships/diagramData" Target="../diagrams/data1.xml"/><Relationship Id="rId9" Type="http://schemas.openxmlformats.org/officeDocument/2006/relationships/image" Target="../media/image1.png"/></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1.png"/><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 name="TextBox 15">
            <a:extLst>
              <a:ext uri="{FF2B5EF4-FFF2-40B4-BE49-F238E27FC236}">
                <a16:creationId xmlns:a16="http://schemas.microsoft.com/office/drawing/2014/main" id="{500C0830-A1CA-96AE-68D2-18C57ABE4802}"/>
              </a:ext>
            </a:extLst>
          </p:cNvPr>
          <p:cNvSpPr txBox="1"/>
          <p:nvPr/>
        </p:nvSpPr>
        <p:spPr>
          <a:xfrm>
            <a:off x="2995612" y="2868213"/>
            <a:ext cx="6200774" cy="492443"/>
          </a:xfrm>
          <a:prstGeom prst="rect">
            <a:avLst/>
          </a:prstGeom>
          <a:noFill/>
          <a:effectLst>
            <a:glow rad="139700">
              <a:schemeClr val="accent2">
                <a:satMod val="175000"/>
                <a:alpha val="40000"/>
              </a:schemeClr>
            </a:glow>
          </a:effectLst>
        </p:spPr>
        <p:txBody>
          <a:bodyPr wrap="square">
            <a:spAutoFit/>
          </a:bodyPr>
          <a:lstStyle/>
          <a:p>
            <a:pPr algn="ctr"/>
            <a:endParaRPr lang="en-IN" sz="600" dirty="0">
              <a:latin typeface="Times New Roman" panose="02020603050405020304" pitchFamily="18" charset="0"/>
              <a:cs typeface="Times New Roman" panose="02020603050405020304" pitchFamily="18" charset="0"/>
            </a:endParaRPr>
          </a:p>
          <a:p>
            <a:pPr algn="ctr"/>
            <a:r>
              <a:rPr lang="en-IN" sz="2000" b="1" dirty="0">
                <a:solidFill>
                  <a:srgbClr val="FF0000"/>
                </a:solidFill>
                <a:latin typeface="Times New Roman" panose="02020603050405020304" pitchFamily="18" charset="0"/>
                <a:cs typeface="Times New Roman" panose="02020603050405020304" pitchFamily="18" charset="0"/>
              </a:rPr>
              <a:t>20-08-2026 </a:t>
            </a:r>
          </a:p>
        </p:txBody>
      </p:sp>
      <p:graphicFrame>
        <p:nvGraphicFramePr>
          <p:cNvPr id="18" name="Table 17">
            <a:extLst>
              <a:ext uri="{FF2B5EF4-FFF2-40B4-BE49-F238E27FC236}">
                <a16:creationId xmlns:a16="http://schemas.microsoft.com/office/drawing/2014/main" id="{BD22BC4D-4857-7D81-7819-37B7BB426420}"/>
              </a:ext>
            </a:extLst>
          </p:cNvPr>
          <p:cNvGraphicFramePr>
            <a:graphicFrameLocks noGrp="1"/>
          </p:cNvGraphicFramePr>
          <p:nvPr>
            <p:extLst>
              <p:ext uri="{D42A27DB-BD31-4B8C-83A1-F6EECF244321}">
                <p14:modId xmlns:p14="http://schemas.microsoft.com/office/powerpoint/2010/main" val="3049214641"/>
              </p:ext>
            </p:extLst>
          </p:nvPr>
        </p:nvGraphicFramePr>
        <p:xfrm>
          <a:off x="7260336" y="5022521"/>
          <a:ext cx="4589265" cy="1310640"/>
        </p:xfrm>
        <a:graphic>
          <a:graphicData uri="http://schemas.openxmlformats.org/drawingml/2006/table">
            <a:tbl>
              <a:tblPr firstRow="1" bandRow="1">
                <a:tableStyleId>{5940675A-B579-460E-94D1-54222C63F5DA}</a:tableStyleId>
              </a:tblPr>
              <a:tblGrid>
                <a:gridCol w="4589265">
                  <a:extLst>
                    <a:ext uri="{9D8B030D-6E8A-4147-A177-3AD203B41FA5}">
                      <a16:colId xmlns:a16="http://schemas.microsoft.com/office/drawing/2014/main" val="40058472"/>
                    </a:ext>
                  </a:extLst>
                </a:gridCol>
              </a:tblGrid>
              <a:tr h="752368">
                <a:tc>
                  <a:txBody>
                    <a:bodyPr/>
                    <a:lstStyle/>
                    <a:p>
                      <a:pPr marL="0" algn="l" defTabSz="914400" rtl="0" eaLnBrk="1" latinLnBrk="0" hangingPunct="1"/>
                      <a:r>
                        <a:rPr lang="en-IN" sz="1600" b="1" dirty="0">
                          <a:solidFill>
                            <a:srgbClr val="C00000"/>
                          </a:solidFill>
                          <a:latin typeface="Times New Roman" panose="02020603050405020304" pitchFamily="18" charset="0"/>
                          <a:cs typeface="Times New Roman" panose="02020603050405020304" pitchFamily="18" charset="0"/>
                        </a:rPr>
                        <a:t>Team Members</a:t>
                      </a:r>
                      <a:br>
                        <a:rPr lang="en-IN" sz="1600" b="1" dirty="0">
                          <a:solidFill>
                            <a:srgbClr val="C00000"/>
                          </a:solidFill>
                          <a:latin typeface="Times New Roman" panose="02020603050405020304" pitchFamily="18" charset="0"/>
                          <a:cs typeface="Times New Roman" panose="02020603050405020304" pitchFamily="18" charset="0"/>
                        </a:rPr>
                      </a:br>
                      <a:r>
                        <a:rPr lang="en-IN" sz="1600" b="1" kern="1200" dirty="0">
                          <a:solidFill>
                            <a:schemeClr val="dk1"/>
                          </a:solidFill>
                          <a:latin typeface="Times New Roman" panose="02020603050405020304" pitchFamily="18" charset="0"/>
                          <a:ea typeface="Cambria"/>
                          <a:cs typeface="Times New Roman" panose="02020603050405020304" pitchFamily="18" charset="0"/>
                        </a:rPr>
                        <a:t>Thirumala Reddy Sagar Mounitha-2420030330</a:t>
                      </a:r>
                    </a:p>
                    <a:p>
                      <a:pPr marL="0" algn="l" defTabSz="914400" rtl="0" eaLnBrk="1" latinLnBrk="0" hangingPunct="1"/>
                      <a:r>
                        <a:rPr lang="en-IN" sz="1600" b="1" kern="1200" dirty="0">
                          <a:solidFill>
                            <a:schemeClr val="dk1"/>
                          </a:solidFill>
                          <a:latin typeface="Times New Roman" panose="02020603050405020304" pitchFamily="18" charset="0"/>
                          <a:ea typeface="Cambria"/>
                          <a:cs typeface="Times New Roman" panose="02020603050405020304" pitchFamily="18" charset="0"/>
                        </a:rPr>
                        <a:t>Raavi Jahnavi-2420030173</a:t>
                      </a:r>
                    </a:p>
                    <a:p>
                      <a:pPr marL="0" algn="l" defTabSz="914400" rtl="0" eaLnBrk="1" latinLnBrk="0" hangingPunct="1"/>
                      <a:r>
                        <a:rPr lang="en-IN" sz="1600" b="1" kern="1200" dirty="0" err="1">
                          <a:solidFill>
                            <a:schemeClr val="dk1"/>
                          </a:solidFill>
                          <a:latin typeface="Times New Roman" panose="02020603050405020304" pitchFamily="18" charset="0"/>
                          <a:ea typeface="Cambria"/>
                          <a:cs typeface="Times New Roman" panose="02020603050405020304" pitchFamily="18" charset="0"/>
                        </a:rPr>
                        <a:t>SriHansika</a:t>
                      </a:r>
                      <a:r>
                        <a:rPr lang="en-IN" sz="1600" b="1" kern="1200" dirty="0">
                          <a:solidFill>
                            <a:schemeClr val="dk1"/>
                          </a:solidFill>
                          <a:latin typeface="Times New Roman" panose="02020603050405020304" pitchFamily="18" charset="0"/>
                          <a:ea typeface="Cambria"/>
                          <a:cs typeface="Times New Roman" panose="02020603050405020304" pitchFamily="18" charset="0"/>
                        </a:rPr>
                        <a:t> Saraf-2420030556 </a:t>
                      </a:r>
                      <a:endParaRPr lang="en-IN" sz="1400" b="1" kern="1200" dirty="0">
                        <a:solidFill>
                          <a:schemeClr val="dk1"/>
                        </a:solidFill>
                        <a:latin typeface="Times New Roman" panose="02020603050405020304" pitchFamily="18" charset="0"/>
                        <a:ea typeface="Cambria"/>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IN" sz="1600" b="1" dirty="0">
                        <a:solidFill>
                          <a:srgbClr val="C00000"/>
                        </a:solidFill>
                        <a:latin typeface="Times New Roman" panose="02020603050405020304" pitchFamily="18" charset="0"/>
                        <a:cs typeface="Times New Roman" panose="02020603050405020304" pitchFamily="18" charset="0"/>
                      </a:endParaRPr>
                    </a:p>
                  </a:txBody>
                  <a:tcPr>
                    <a:lnL w="1270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21" name="Group 20">
            <a:extLst>
              <a:ext uri="{FF2B5EF4-FFF2-40B4-BE49-F238E27FC236}">
                <a16:creationId xmlns:a16="http://schemas.microsoft.com/office/drawing/2014/main" id="{B5A8CA37-C090-A9D8-75D0-A7A7D5DEBE24}"/>
              </a:ext>
            </a:extLst>
          </p:cNvPr>
          <p:cNvGrpSpPr/>
          <p:nvPr/>
        </p:nvGrpSpPr>
        <p:grpSpPr>
          <a:xfrm>
            <a:off x="8038280" y="4765558"/>
            <a:ext cx="230240" cy="232995"/>
            <a:chOff x="1567861" y="1613059"/>
            <a:chExt cx="230240" cy="232995"/>
          </a:xfrm>
          <a:solidFill>
            <a:srgbClr val="FF66FF"/>
          </a:solidFill>
        </p:grpSpPr>
        <p:sp>
          <p:nvSpPr>
            <p:cNvPr id="22" name="Isosceles Triangle 21">
              <a:extLst>
                <a:ext uri="{FF2B5EF4-FFF2-40B4-BE49-F238E27FC236}">
                  <a16:creationId xmlns:a16="http://schemas.microsoft.com/office/drawing/2014/main" id="{E48399A6-AAB5-B502-9670-34E0FCDF5541}"/>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23" name="Isosceles Triangle 22">
              <a:extLst>
                <a:ext uri="{FF2B5EF4-FFF2-40B4-BE49-F238E27FC236}">
                  <a16:creationId xmlns:a16="http://schemas.microsoft.com/office/drawing/2014/main" id="{67E59050-351C-0873-0298-AB77EA522C22}"/>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graphicFrame>
        <p:nvGraphicFramePr>
          <p:cNvPr id="30" name="Table 29">
            <a:extLst>
              <a:ext uri="{FF2B5EF4-FFF2-40B4-BE49-F238E27FC236}">
                <a16:creationId xmlns:a16="http://schemas.microsoft.com/office/drawing/2014/main" id="{9091FADF-77DB-CB1D-CD72-56C53CF76308}"/>
              </a:ext>
            </a:extLst>
          </p:cNvPr>
          <p:cNvGraphicFramePr>
            <a:graphicFrameLocks noGrp="1"/>
          </p:cNvGraphicFramePr>
          <p:nvPr>
            <p:extLst>
              <p:ext uri="{D42A27DB-BD31-4B8C-83A1-F6EECF244321}">
                <p14:modId xmlns:p14="http://schemas.microsoft.com/office/powerpoint/2010/main" val="271957439"/>
              </p:ext>
            </p:extLst>
          </p:nvPr>
        </p:nvGraphicFramePr>
        <p:xfrm>
          <a:off x="-795813" y="4774125"/>
          <a:ext cx="5902325" cy="1366520"/>
        </p:xfrm>
        <a:graphic>
          <a:graphicData uri="http://schemas.openxmlformats.org/drawingml/2006/table">
            <a:tbl>
              <a:tblPr firstRow="1" bandRow="1">
                <a:tableStyleId>{5940675A-B579-460E-94D1-54222C63F5DA}</a:tableStyleId>
              </a:tblPr>
              <a:tblGrid>
                <a:gridCol w="1373565">
                  <a:extLst>
                    <a:ext uri="{9D8B030D-6E8A-4147-A177-3AD203B41FA5}">
                      <a16:colId xmlns:a16="http://schemas.microsoft.com/office/drawing/2014/main" val="40058472"/>
                    </a:ext>
                  </a:extLst>
                </a:gridCol>
                <a:gridCol w="4528760">
                  <a:extLst>
                    <a:ext uri="{9D8B030D-6E8A-4147-A177-3AD203B41FA5}">
                      <a16:colId xmlns:a16="http://schemas.microsoft.com/office/drawing/2014/main" val="1330242319"/>
                    </a:ext>
                  </a:extLst>
                </a:gridCol>
              </a:tblGrid>
              <a:tr h="1332118">
                <a:tc>
                  <a:txBody>
                    <a:bodyPr/>
                    <a:lstStyle/>
                    <a:p>
                      <a:endParaRPr lang="en-IN" dirty="0"/>
                    </a:p>
                  </a:txBody>
                  <a:tcPr>
                    <a:lnL w="12700" cmpd="sng">
                      <a:noFill/>
                    </a:lnL>
                    <a:lnR w="12700" cap="flat" cmpd="sng" algn="ctr">
                      <a:solidFill>
                        <a:schemeClr val="tx1"/>
                      </a:solidFill>
                      <a:prstDash val="solid"/>
                      <a:round/>
                      <a:headEnd type="none" w="med" len="med"/>
                      <a:tailEnd type="none" w="med" len="med"/>
                    </a:lnR>
                    <a:lnT w="12700" cmpd="sng">
                      <a:noFill/>
                    </a:lnT>
                    <a:lnB w="12700" cmpd="sng">
                      <a:noFill/>
                    </a:lnB>
                    <a:lnTlToBr w="12700" cmpd="sng">
                      <a:noFill/>
                      <a:prstDash val="solid"/>
                    </a:lnTlToBr>
                    <a:lnBlToTr w="12700" cmpd="sng">
                      <a:noFill/>
                      <a:prstDash val="solid"/>
                    </a:lnBlToTr>
                  </a:tcPr>
                </a:tc>
                <a:tc>
                  <a:txBody>
                    <a:bodyPr/>
                    <a:lstStyle/>
                    <a:p>
                      <a:endParaRPr lang="en-IN" sz="500" b="1" dirty="0">
                        <a:solidFill>
                          <a:srgbClr val="C00000"/>
                        </a:solidFill>
                        <a:latin typeface="Times New Roman" panose="02020603050405020304" pitchFamily="18" charset="0"/>
                        <a:cs typeface="Times New Roman" panose="02020603050405020304" pitchFamily="18" charset="0"/>
                      </a:endParaRPr>
                    </a:p>
                    <a:p>
                      <a:r>
                        <a:rPr lang="en-IN" sz="1600" b="1" dirty="0">
                          <a:solidFill>
                            <a:srgbClr val="C00000"/>
                          </a:solidFill>
                          <a:latin typeface="Times New Roman" panose="02020603050405020304" pitchFamily="18" charset="0"/>
                          <a:cs typeface="Times New Roman" panose="02020603050405020304" pitchFamily="18" charset="0"/>
                        </a:rPr>
                        <a:t>Under the Guidance of</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Dr. </a:t>
                      </a:r>
                      <a:r>
                        <a:rPr lang="en-US" sz="1400" b="1" dirty="0" err="1">
                          <a:solidFill>
                            <a:schemeClr val="dk1"/>
                          </a:solidFill>
                          <a:latin typeface="Times New Roman" panose="02020603050405020304" pitchFamily="18" charset="0"/>
                          <a:ea typeface="Cambria"/>
                          <a:cs typeface="Times New Roman" panose="02020603050405020304" pitchFamily="18" charset="0"/>
                          <a:sym typeface="Cambria"/>
                        </a:rPr>
                        <a:t>Navyatha</a:t>
                      </a: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 Ravi</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 Professor, </a:t>
                      </a:r>
                    </a:p>
                    <a:p>
                      <a:pPr marL="0" indent="0" algn="l">
                        <a:lnSpc>
                          <a:spcPct val="100000"/>
                        </a:lnSpc>
                        <a:spcBef>
                          <a:spcPts val="200"/>
                        </a:spcBef>
                        <a:buSzPts val="810"/>
                        <a:buNone/>
                      </a:pPr>
                      <a:r>
                        <a:rPr lang="en-US" sz="1400" b="1" dirty="0">
                          <a:solidFill>
                            <a:schemeClr val="dk1"/>
                          </a:solidFill>
                          <a:latin typeface="Times New Roman" panose="02020603050405020304" pitchFamily="18" charset="0"/>
                          <a:ea typeface="Cambria"/>
                          <a:cs typeface="Times New Roman" panose="02020603050405020304" pitchFamily="18" charset="0"/>
                          <a:sym typeface="Cambria"/>
                        </a:rPr>
                        <a:t>Department of </a:t>
                      </a:r>
                      <a:r>
                        <a:rPr lang="en-US" sz="1400" b="1" dirty="0">
                          <a:solidFill>
                            <a:prstClr val="black"/>
                          </a:solidFill>
                          <a:latin typeface="Times New Roman" panose="02020603050405020304" pitchFamily="18" charset="0"/>
                          <a:ea typeface="Cambria"/>
                          <a:cs typeface="Times New Roman" panose="02020603050405020304" pitchFamily="18" charset="0"/>
                          <a:sym typeface="Cambria"/>
                        </a:rPr>
                        <a:t>Computer Science and Engineering, </a:t>
                      </a:r>
                    </a:p>
                    <a:p>
                      <a:pPr marL="0" indent="0" algn="l">
                        <a:lnSpc>
                          <a:spcPct val="100000"/>
                        </a:lnSpc>
                        <a:spcBef>
                          <a:spcPts val="200"/>
                        </a:spcBef>
                        <a:buSzPts val="810"/>
                        <a:buNone/>
                      </a:pPr>
                      <a:r>
                        <a:rPr lang="en-US" sz="1400" dirty="0">
                          <a:solidFill>
                            <a:schemeClr val="dk1"/>
                          </a:solidFill>
                          <a:latin typeface="Times New Roman" panose="02020603050405020304" pitchFamily="18" charset="0"/>
                          <a:ea typeface="Cambria"/>
                          <a:cs typeface="Times New Roman" panose="02020603050405020304" pitchFamily="18" charset="0"/>
                          <a:sym typeface="Cambria"/>
                        </a:rPr>
                        <a:t>KLH CSE Bowrampet Campus</a:t>
                      </a:r>
                      <a:endParaRPr lang="en-US" sz="1400" dirty="0">
                        <a:solidFill>
                          <a:schemeClr val="dk1"/>
                        </a:solidFill>
                        <a:latin typeface="Times New Roman" panose="02020603050405020304" pitchFamily="18" charset="0"/>
                        <a:ea typeface="Cambria"/>
                        <a:cs typeface="Times New Roman" panose="02020603050405020304" pitchFamily="18" charset="0"/>
                        <a:sym typeface="Arial"/>
                      </a:endParaRPr>
                    </a:p>
                  </a:txBody>
                  <a:tcPr>
                    <a:lnL w="12700" cap="flat" cmpd="sng" algn="ctr">
                      <a:solidFill>
                        <a:schemeClr val="tx1"/>
                      </a:solidFill>
                      <a:prstDash val="solid"/>
                      <a:round/>
                      <a:headEnd type="none" w="med" len="med"/>
                      <a:tailEnd type="none" w="med" len="med"/>
                    </a:lnL>
                    <a:lnR w="12700" cmpd="sng">
                      <a:noFill/>
                    </a:lnR>
                    <a:lnT w="12700" cmpd="sng">
                      <a:noFill/>
                    </a:lnT>
                    <a:lnB w="12700" cmpd="sng">
                      <a:noFill/>
                    </a:lnB>
                    <a:lnTlToBr w="12700" cmpd="sng">
                      <a:noFill/>
                      <a:prstDash val="solid"/>
                    </a:lnTlToBr>
                    <a:lnBlToTr w="12700" cmpd="sng">
                      <a:noFill/>
                      <a:prstDash val="solid"/>
                    </a:lnBlToTr>
                  </a:tcPr>
                </a:tc>
                <a:extLst>
                  <a:ext uri="{0D108BD9-81ED-4DB2-BD59-A6C34878D82A}">
                    <a16:rowId xmlns:a16="http://schemas.microsoft.com/office/drawing/2014/main" val="4108782725"/>
                  </a:ext>
                </a:extLst>
              </a:tr>
            </a:tbl>
          </a:graphicData>
        </a:graphic>
      </p:graphicFrame>
      <p:grpSp>
        <p:nvGrpSpPr>
          <p:cNvPr id="31" name="Group 30">
            <a:extLst>
              <a:ext uri="{FF2B5EF4-FFF2-40B4-BE49-F238E27FC236}">
                <a16:creationId xmlns:a16="http://schemas.microsoft.com/office/drawing/2014/main" id="{8A67E7A6-1F33-FBD3-09B8-F35F17C8F890}"/>
              </a:ext>
            </a:extLst>
          </p:cNvPr>
          <p:cNvGrpSpPr/>
          <p:nvPr/>
        </p:nvGrpSpPr>
        <p:grpSpPr>
          <a:xfrm>
            <a:off x="442519" y="4562547"/>
            <a:ext cx="230240" cy="232995"/>
            <a:chOff x="1567861" y="1613059"/>
            <a:chExt cx="230240" cy="232995"/>
          </a:xfrm>
          <a:solidFill>
            <a:srgbClr val="00B0F0"/>
          </a:solidFill>
        </p:grpSpPr>
        <p:sp>
          <p:nvSpPr>
            <p:cNvPr id="32" name="Isosceles Triangle 31">
              <a:extLst>
                <a:ext uri="{FF2B5EF4-FFF2-40B4-BE49-F238E27FC236}">
                  <a16:creationId xmlns:a16="http://schemas.microsoft.com/office/drawing/2014/main" id="{FE269535-B3A3-75F2-310C-D43D8AC3F905}"/>
                </a:ext>
              </a:extLst>
            </p:cNvPr>
            <p:cNvSpPr/>
            <p:nvPr/>
          </p:nvSpPr>
          <p:spPr>
            <a:xfrm rot="8294948">
              <a:off x="1567861" y="1613059"/>
              <a:ext cx="160845" cy="232995"/>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highlight>
                  <a:srgbClr val="FFFF00"/>
                </a:highlight>
              </a:endParaRPr>
            </a:p>
          </p:txBody>
        </p:sp>
        <p:sp>
          <p:nvSpPr>
            <p:cNvPr id="33" name="Isosceles Triangle 32">
              <a:extLst>
                <a:ext uri="{FF2B5EF4-FFF2-40B4-BE49-F238E27FC236}">
                  <a16:creationId xmlns:a16="http://schemas.microsoft.com/office/drawing/2014/main" id="{FA8E9237-F9D3-FB94-D6EB-94D77AEFD506}"/>
                </a:ext>
              </a:extLst>
            </p:cNvPr>
            <p:cNvSpPr/>
            <p:nvPr/>
          </p:nvSpPr>
          <p:spPr>
            <a:xfrm rot="11852143">
              <a:off x="1683856" y="1639371"/>
              <a:ext cx="114245" cy="153379"/>
            </a:xfrm>
            <a:prstGeom prst="triangle">
              <a:avLst/>
            </a:prstGeom>
            <a:grp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dirty="0"/>
            </a:p>
          </p:txBody>
        </p:sp>
      </p:grpSp>
      <p:sp>
        <p:nvSpPr>
          <p:cNvPr id="34" name="Date Placeholder 33">
            <a:extLst>
              <a:ext uri="{FF2B5EF4-FFF2-40B4-BE49-F238E27FC236}">
                <a16:creationId xmlns:a16="http://schemas.microsoft.com/office/drawing/2014/main" id="{C1554CCE-4DF8-89E6-E0F6-3C2A1439C7FA}"/>
              </a:ext>
            </a:extLst>
          </p:cNvPr>
          <p:cNvSpPr>
            <a:spLocks noGrp="1"/>
          </p:cNvSpPr>
          <p:nvPr>
            <p:ph type="dt" sz="half" idx="10"/>
          </p:nvPr>
        </p:nvSpPr>
        <p:spPr/>
        <p:txBody>
          <a:bodyPr/>
          <a:lstStyle/>
          <a:p>
            <a:r>
              <a:rPr lang="en-US" b="1" dirty="0"/>
              <a:t>20-08-2026</a:t>
            </a:r>
            <a:endParaRPr lang="en-IN" b="1" dirty="0"/>
          </a:p>
        </p:txBody>
      </p:sp>
      <p:sp>
        <p:nvSpPr>
          <p:cNvPr id="35" name="Footer Placeholder 34">
            <a:extLst>
              <a:ext uri="{FF2B5EF4-FFF2-40B4-BE49-F238E27FC236}">
                <a16:creationId xmlns:a16="http://schemas.microsoft.com/office/drawing/2014/main" id="{8FB49AA0-2464-6225-6B6C-063F9A6ECD20}"/>
              </a:ext>
            </a:extLst>
          </p:cNvPr>
          <p:cNvSpPr>
            <a:spLocks noGrp="1"/>
          </p:cNvSpPr>
          <p:nvPr>
            <p:ph type="ftr" sz="quarter" idx="11"/>
          </p:nvPr>
        </p:nvSpPr>
        <p:spPr/>
        <p:txBody>
          <a:bodyPr/>
          <a:lstStyle/>
          <a:p>
            <a:r>
              <a:rPr lang="en-IN" b="1" dirty="0"/>
              <a:t>SOA Project Review-1</a:t>
            </a:r>
          </a:p>
        </p:txBody>
      </p:sp>
      <p:sp>
        <p:nvSpPr>
          <p:cNvPr id="36" name="Slide Number Placeholder 35">
            <a:extLst>
              <a:ext uri="{FF2B5EF4-FFF2-40B4-BE49-F238E27FC236}">
                <a16:creationId xmlns:a16="http://schemas.microsoft.com/office/drawing/2014/main" id="{28F834F9-83AA-E3F9-773A-4B7A83B345F7}"/>
              </a:ext>
            </a:extLst>
          </p:cNvPr>
          <p:cNvSpPr>
            <a:spLocks noGrp="1"/>
          </p:cNvSpPr>
          <p:nvPr>
            <p:ph type="sldNum" sz="quarter" idx="12"/>
          </p:nvPr>
        </p:nvSpPr>
        <p:spPr/>
        <p:txBody>
          <a:bodyPr/>
          <a:lstStyle/>
          <a:p>
            <a:fld id="{01AD1135-6E10-4422-AC8B-257B84239C9C}" type="slidenum">
              <a:rPr lang="en-IN" smtClean="0"/>
              <a:t>1</a:t>
            </a:fld>
            <a:endParaRPr lang="en-IN" dirty="0"/>
          </a:p>
        </p:txBody>
      </p:sp>
      <p:sp>
        <p:nvSpPr>
          <p:cNvPr id="4" name="Rectangle: Rounded Corners 3">
            <a:extLst>
              <a:ext uri="{FF2B5EF4-FFF2-40B4-BE49-F238E27FC236}">
                <a16:creationId xmlns:a16="http://schemas.microsoft.com/office/drawing/2014/main" id="{4EE5F681-D3B5-BC4B-8AA4-5688DCEEFB44}"/>
              </a:ext>
            </a:extLst>
          </p:cNvPr>
          <p:cNvSpPr/>
          <p:nvPr/>
        </p:nvSpPr>
        <p:spPr>
          <a:xfrm>
            <a:off x="638175" y="769267"/>
            <a:ext cx="10915650" cy="985640"/>
          </a:xfrm>
          <a:prstGeom prst="round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400" b="1" i="0" u="none" strike="noStrike" kern="1200" cap="none" spc="0" normalizeH="0" baseline="0" noProof="0" dirty="0">
              <a:ln>
                <a:noFill/>
              </a:ln>
              <a:solidFill>
                <a:srgbClr val="C00000"/>
              </a:solidFill>
              <a:effectLst/>
              <a:uLnTx/>
              <a:uFillTx/>
              <a:latin typeface="Times New Roman" panose="02020603050405020304" pitchFamily="18" charset="0"/>
              <a:cs typeface="Times New Roman" panose="02020603050405020304" pitchFamily="18" charset="0"/>
            </a:endParaRPr>
          </a:p>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2800" b="1" i="0" u="none" strike="noStrike" kern="1200" cap="none" spc="0" normalizeH="0" baseline="0" noProof="0" dirty="0">
              <a:ln>
                <a:noFill/>
              </a:ln>
              <a:solidFill>
                <a:schemeClr val="bg1"/>
              </a:solidFill>
              <a:effectLst/>
              <a:uLnTx/>
              <a:uFillTx/>
              <a:latin typeface="Times New Roman" panose="02020603050405020304" pitchFamily="18" charset="0"/>
              <a:cs typeface="Times New Roman" panose="02020603050405020304" pitchFamily="18" charset="0"/>
            </a:endParaRPr>
          </a:p>
          <a:p>
            <a:pPr algn="ct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A4782FAE-AFAF-27B2-2591-CFAF7695BD03}"/>
              </a:ext>
            </a:extLst>
          </p:cNvPr>
          <p:cNvPicPr>
            <a:picLocks noChangeAspect="1"/>
          </p:cNvPicPr>
          <p:nvPr/>
        </p:nvPicPr>
        <p:blipFill>
          <a:blip r:embed="rId3"/>
          <a:stretch>
            <a:fillRect/>
          </a:stretch>
        </p:blipFill>
        <p:spPr>
          <a:xfrm>
            <a:off x="10249380" y="0"/>
            <a:ext cx="1942620" cy="622550"/>
          </a:xfrm>
          <a:prstGeom prst="rect">
            <a:avLst/>
          </a:prstGeom>
        </p:spPr>
      </p:pic>
      <p:sp>
        <p:nvSpPr>
          <p:cNvPr id="14" name="TextBox 13">
            <a:extLst>
              <a:ext uri="{FF2B5EF4-FFF2-40B4-BE49-F238E27FC236}">
                <a16:creationId xmlns:a16="http://schemas.microsoft.com/office/drawing/2014/main" id="{DD4CF64F-3FB6-0CE4-B778-63C5D5A1D343}"/>
              </a:ext>
            </a:extLst>
          </p:cNvPr>
          <p:cNvSpPr txBox="1"/>
          <p:nvPr/>
        </p:nvSpPr>
        <p:spPr>
          <a:xfrm>
            <a:off x="738187" y="810857"/>
            <a:ext cx="10715625" cy="477054"/>
          </a:xfrm>
          <a:prstGeom prst="rect">
            <a:avLst/>
          </a:prstGeom>
          <a:noFill/>
        </p:spPr>
        <p:txBody>
          <a:bodyPr wrap="square">
            <a:spAutoFit/>
          </a:bodyPr>
          <a:lstStyle/>
          <a:p>
            <a:pPr lvl="0" algn="ctr">
              <a:defRPr/>
            </a:pPr>
            <a:r>
              <a:rPr lang="en-US" sz="2500" b="1" dirty="0" err="1"/>
              <a:t>SmartRide</a:t>
            </a:r>
            <a:r>
              <a:rPr lang="en-US" sz="2500" b="1" dirty="0"/>
              <a:t> – Microservices-Based Carpooling Platform</a:t>
            </a:r>
            <a:endParaRPr kumimoji="0" lang="en-US" sz="2500" b="0" i="0" u="none" strike="noStrike" kern="1200" cap="none" spc="0" normalizeH="0" baseline="0" noProof="0" dirty="0">
              <a:ln>
                <a:noFill/>
              </a:ln>
              <a:solidFill>
                <a:schemeClr val="bg1"/>
              </a:solidFill>
              <a:effectLst/>
              <a:uLnTx/>
              <a:uFillTx/>
              <a:latin typeface="Calibri" panose="020F0502020204030204"/>
              <a:ea typeface="+mn-ea"/>
              <a:cs typeface="Poppins" pitchFamily="2" charset="77"/>
            </a:endParaRPr>
          </a:p>
        </p:txBody>
      </p:sp>
      <p:sp>
        <p:nvSpPr>
          <p:cNvPr id="17" name="TextBox 16">
            <a:extLst>
              <a:ext uri="{FF2B5EF4-FFF2-40B4-BE49-F238E27FC236}">
                <a16:creationId xmlns:a16="http://schemas.microsoft.com/office/drawing/2014/main" id="{D25BC1A0-FDE4-1557-375E-6E0BD69BC77B}"/>
              </a:ext>
            </a:extLst>
          </p:cNvPr>
          <p:cNvSpPr txBox="1"/>
          <p:nvPr/>
        </p:nvSpPr>
        <p:spPr>
          <a:xfrm>
            <a:off x="738187" y="2246806"/>
            <a:ext cx="10715625" cy="584775"/>
          </a:xfrm>
          <a:prstGeom prst="rect">
            <a:avLst/>
          </a:prstGeom>
          <a:noFill/>
        </p:spPr>
        <p:txBody>
          <a:bodyPr wrap="square">
            <a:spAutoFit/>
          </a:bodyPr>
          <a:lstStyle/>
          <a:p>
            <a:pPr lvl="0" algn="ctr">
              <a:defRPr/>
            </a:pPr>
            <a:r>
              <a:rPr lang="en-IN" sz="3200" b="1" dirty="0">
                <a:latin typeface="Times New Roman" panose="02020603050405020304" pitchFamily="18" charset="0"/>
                <a:cs typeface="Times New Roman" panose="02020603050405020304" pitchFamily="18" charset="0"/>
              </a:rPr>
              <a:t>SOA Project Review-1</a:t>
            </a:r>
          </a:p>
        </p:txBody>
      </p:sp>
    </p:spTree>
    <p:extLst>
      <p:ext uri="{BB962C8B-B14F-4D97-AF65-F5344CB8AC3E}">
        <p14:creationId xmlns:p14="http://schemas.microsoft.com/office/powerpoint/2010/main" val="224760260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Slide Number Placeholder 4">
            <a:extLst>
              <a:ext uri="{FF2B5EF4-FFF2-40B4-BE49-F238E27FC236}">
                <a16:creationId xmlns:a16="http://schemas.microsoft.com/office/drawing/2014/main" id="{6420A00F-144B-157D-A12F-7CF90703CA18}"/>
              </a:ext>
            </a:extLst>
          </p:cNvPr>
          <p:cNvSpPr>
            <a:spLocks noGrp="1"/>
          </p:cNvSpPr>
          <p:nvPr>
            <p:ph type="sldNum" sz="quarter" idx="12"/>
          </p:nvPr>
        </p:nvSpPr>
        <p:spPr/>
        <p:txBody>
          <a:bodyPr/>
          <a:lstStyle/>
          <a:p>
            <a:pPr marL="0" marR="0" lvl="0" indent="0" algn="r" defTabSz="457200" rtl="0" eaLnBrk="1" fontAlgn="auto" latinLnBrk="0" hangingPunct="1">
              <a:lnSpc>
                <a:spcPct val="100000"/>
              </a:lnSpc>
              <a:spcBef>
                <a:spcPts val="0"/>
              </a:spcBef>
              <a:spcAft>
                <a:spcPts val="0"/>
              </a:spcAft>
              <a:buClrTx/>
              <a:buSzTx/>
              <a:buFontTx/>
              <a:buNone/>
              <a:tabLst/>
              <a:defRPr/>
            </a:pPr>
            <a:fld id="{5A3A418F-4DEE-4BB1-940B-1145D135750E}" type="slidenum">
              <a:rPr kumimoji="0" lang="en-IN"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457200" rtl="0" eaLnBrk="1" fontAlgn="auto" latinLnBrk="0" hangingPunct="1">
                <a:lnSpc>
                  <a:spcPct val="100000"/>
                </a:lnSpc>
                <a:spcBef>
                  <a:spcPts val="0"/>
                </a:spcBef>
                <a:spcAft>
                  <a:spcPts val="0"/>
                </a:spcAft>
                <a:buClrTx/>
                <a:buSzTx/>
                <a:buFontTx/>
                <a:buNone/>
                <a:tabLst/>
                <a:defRPr/>
              </a:pPr>
              <a:t>2</a:t>
            </a:fld>
            <a:endParaRPr kumimoji="0" lang="en-IN"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TextBox 8">
            <a:extLst>
              <a:ext uri="{FF2B5EF4-FFF2-40B4-BE49-F238E27FC236}">
                <a16:creationId xmlns:a16="http://schemas.microsoft.com/office/drawing/2014/main" id="{9797C6D7-F4DC-4908-B610-D10EE43A9B41}"/>
              </a:ext>
            </a:extLst>
          </p:cNvPr>
          <p:cNvSpPr txBox="1"/>
          <p:nvPr/>
        </p:nvSpPr>
        <p:spPr>
          <a:xfrm>
            <a:off x="3020906" y="173546"/>
            <a:ext cx="5854242" cy="646331"/>
          </a:xfrm>
          <a:prstGeom prst="rect">
            <a:avLst/>
          </a:prstGeom>
          <a:ln>
            <a:noFill/>
          </a:ln>
        </p:spPr>
        <p:style>
          <a:lnRef idx="2">
            <a:schemeClr val="accent2"/>
          </a:lnRef>
          <a:fillRef idx="1">
            <a:schemeClr val="lt1"/>
          </a:fillRef>
          <a:effectRef idx="0">
            <a:schemeClr val="accent2"/>
          </a:effectRef>
          <a:fontRef idx="minor">
            <a:schemeClr val="dk1"/>
          </a:fontRef>
        </p:style>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IN" sz="3600" b="1" i="0" u="none" strike="noStrike" kern="1200" cap="none" spc="0" normalizeH="0" baseline="0" noProof="0" dirty="0">
                <a:ln w="0"/>
                <a:solidFill>
                  <a:srgbClr val="4472C4"/>
                </a:solidFill>
                <a:effectLst/>
                <a:uLnTx/>
                <a:uFillTx/>
                <a:latin typeface="Times New Roman" panose="02020603050405020304" pitchFamily="18" charset="0"/>
                <a:ea typeface="Cambria"/>
                <a:cs typeface="Times New Roman" panose="02020603050405020304" pitchFamily="18" charset="0"/>
              </a:rPr>
              <a:t>Outline of Project Work</a:t>
            </a:r>
          </a:p>
        </p:txBody>
      </p:sp>
      <p:grpSp>
        <p:nvGrpSpPr>
          <p:cNvPr id="8" name="Group 7">
            <a:extLst>
              <a:ext uri="{FF2B5EF4-FFF2-40B4-BE49-F238E27FC236}">
                <a16:creationId xmlns:a16="http://schemas.microsoft.com/office/drawing/2014/main" id="{B25CDE63-8DDC-4AC4-7713-9D89D6D0F4B1}"/>
              </a:ext>
            </a:extLst>
          </p:cNvPr>
          <p:cNvGrpSpPr/>
          <p:nvPr/>
        </p:nvGrpSpPr>
        <p:grpSpPr>
          <a:xfrm>
            <a:off x="2001361" y="1377996"/>
            <a:ext cx="6784432" cy="4438977"/>
            <a:chOff x="1929643" y="1656655"/>
            <a:chExt cx="6784432" cy="4438977"/>
          </a:xfrm>
        </p:grpSpPr>
        <p:sp>
          <p:nvSpPr>
            <p:cNvPr id="16" name="TextBox 15">
              <a:extLst>
                <a:ext uri="{FF2B5EF4-FFF2-40B4-BE49-F238E27FC236}">
                  <a16:creationId xmlns:a16="http://schemas.microsoft.com/office/drawing/2014/main" id="{C0A4CA55-824E-91B2-D5F9-032778D4B8B3}"/>
                </a:ext>
              </a:extLst>
            </p:cNvPr>
            <p:cNvSpPr txBox="1"/>
            <p:nvPr/>
          </p:nvSpPr>
          <p:spPr>
            <a:xfrm>
              <a:off x="2675533" y="3257433"/>
              <a:ext cx="4267376" cy="960328"/>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Challenges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18" name="TextBox 17">
              <a:extLst>
                <a:ext uri="{FF2B5EF4-FFF2-40B4-BE49-F238E27FC236}">
                  <a16:creationId xmlns:a16="http://schemas.microsoft.com/office/drawing/2014/main" id="{EE7E17B2-5AF8-C463-91C3-5B87FC773369}"/>
                </a:ext>
              </a:extLst>
            </p:cNvPr>
            <p:cNvSpPr txBox="1"/>
            <p:nvPr/>
          </p:nvSpPr>
          <p:spPr>
            <a:xfrm>
              <a:off x="2922896" y="3753448"/>
              <a:ext cx="4374693" cy="873572"/>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Research Objectives</a:t>
              </a:r>
            </a:p>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0" name="TextBox 19">
              <a:extLst>
                <a:ext uri="{FF2B5EF4-FFF2-40B4-BE49-F238E27FC236}">
                  <a16:creationId xmlns:a16="http://schemas.microsoft.com/office/drawing/2014/main" id="{6D160BA9-A291-1BA5-C03E-7218C2169C28}"/>
                </a:ext>
              </a:extLst>
            </p:cNvPr>
            <p:cNvSpPr txBox="1"/>
            <p:nvPr/>
          </p:nvSpPr>
          <p:spPr>
            <a:xfrm>
              <a:off x="3139925" y="4332926"/>
              <a:ext cx="4529560" cy="937693"/>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Conclusion &amp; Future Work</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8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sp>
          <p:nvSpPr>
            <p:cNvPr id="22" name="TextBox 21">
              <a:extLst>
                <a:ext uri="{FF2B5EF4-FFF2-40B4-BE49-F238E27FC236}">
                  <a16:creationId xmlns:a16="http://schemas.microsoft.com/office/drawing/2014/main" id="{6C792DA3-F484-948A-E346-F158FE24CE3F}"/>
                </a:ext>
              </a:extLst>
            </p:cNvPr>
            <p:cNvSpPr txBox="1"/>
            <p:nvPr/>
          </p:nvSpPr>
          <p:spPr>
            <a:xfrm>
              <a:off x="3426151" y="4880317"/>
              <a:ext cx="4774676" cy="919739"/>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References</a:t>
              </a:r>
              <a:b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br>
              <a:endPar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sp>
          <p:nvSpPr>
            <p:cNvPr id="24" name="TextBox 23">
              <a:extLst>
                <a:ext uri="{FF2B5EF4-FFF2-40B4-BE49-F238E27FC236}">
                  <a16:creationId xmlns:a16="http://schemas.microsoft.com/office/drawing/2014/main" id="{957E2443-43F4-3FA3-6C83-796D6B456220}"/>
                </a:ext>
              </a:extLst>
            </p:cNvPr>
            <p:cNvSpPr txBox="1"/>
            <p:nvPr/>
          </p:nvSpPr>
          <p:spPr>
            <a:xfrm>
              <a:off x="3822549" y="5483028"/>
              <a:ext cx="4891526" cy="612604"/>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r>
                <a:rPr kumimoji="0" lang="en-US" sz="18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Publications Details</a:t>
              </a:r>
            </a:p>
            <a:p>
              <a:pPr marL="430213" marR="0" lvl="0" indent="-342900" algn="l" defTabSz="4572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1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endParaRPr>
            </a:p>
          </p:txBody>
        </p:sp>
        <p:pic>
          <p:nvPicPr>
            <p:cNvPr id="7" name="Graphic 6">
              <a:extLst>
                <a:ext uri="{FF2B5EF4-FFF2-40B4-BE49-F238E27FC236}">
                  <a16:creationId xmlns:a16="http://schemas.microsoft.com/office/drawing/2014/main" id="{FEE87FCF-6A51-9005-163C-5E3B5C1257B9}"/>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8229530" y="5002476"/>
              <a:ext cx="455841" cy="536286"/>
            </a:xfrm>
            <a:prstGeom prst="rect">
              <a:avLst/>
            </a:prstGeom>
          </p:spPr>
        </p:pic>
        <p:sp>
          <p:nvSpPr>
            <p:cNvPr id="28" name="Content Placeholder 11">
              <a:extLst>
                <a:ext uri="{FF2B5EF4-FFF2-40B4-BE49-F238E27FC236}">
                  <a16:creationId xmlns:a16="http://schemas.microsoft.com/office/drawing/2014/main" id="{F1211E34-5F1E-9B5C-4C59-2549F412DCD1}"/>
                </a:ext>
              </a:extLst>
            </p:cNvPr>
            <p:cNvSpPr txBox="1">
              <a:spLocks/>
            </p:cNvSpPr>
            <p:nvPr/>
          </p:nvSpPr>
          <p:spPr>
            <a:xfrm>
              <a:off x="1929643" y="1656655"/>
              <a:ext cx="3548330" cy="748994"/>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Focus</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sp>
          <p:nvSpPr>
            <p:cNvPr id="31" name="Content Placeholder 11">
              <a:extLst>
                <a:ext uri="{FF2B5EF4-FFF2-40B4-BE49-F238E27FC236}">
                  <a16:creationId xmlns:a16="http://schemas.microsoft.com/office/drawing/2014/main" id="{4D713724-2EA7-CA04-47B9-F63B3DAC496D}"/>
                </a:ext>
              </a:extLst>
            </p:cNvPr>
            <p:cNvSpPr txBox="1">
              <a:spLocks/>
            </p:cNvSpPr>
            <p:nvPr/>
          </p:nvSpPr>
          <p:spPr>
            <a:xfrm>
              <a:off x="2209801" y="2217836"/>
              <a:ext cx="3886200" cy="666229"/>
            </a:xfrm>
            <a:prstGeom prst="rect">
              <a:avLst/>
            </a:prstGeom>
            <a:solidFill>
              <a:schemeClr val="tx1">
                <a:lumMod val="75000"/>
                <a:lumOff val="25000"/>
              </a:schemeClr>
            </a:solidFill>
            <a:ln w="19050" cap="flat" cmpd="sng" algn="ctr">
              <a:solidFill>
                <a:schemeClr val="accent4"/>
              </a:solidFill>
              <a:prstDash val="solid"/>
              <a:miter lim="800000"/>
            </a:ln>
          </p:spPr>
          <p:style>
            <a:lnRef idx="1">
              <a:schemeClr val="accent2"/>
            </a:lnRef>
            <a:fillRef idx="2">
              <a:schemeClr val="accent2"/>
            </a:fillRef>
            <a:effectRef idx="1">
              <a:schemeClr val="accent2"/>
            </a:effectRef>
            <a:fontRef idx="minor">
              <a:schemeClr val="dk1"/>
            </a:fontRef>
          </p:style>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dk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dk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dk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dk1"/>
                  </a:solidFill>
                  <a:latin typeface="+mn-lt"/>
                  <a:ea typeface="+mn-ea"/>
                  <a:cs typeface="+mn-cs"/>
                </a:defRPr>
              </a:lvl9pPr>
            </a:lstStyle>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0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Introduction</a:t>
              </a: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430213" marR="0" lvl="0" indent="-342900" algn="l" defTabSz="914400" rtl="0" eaLnBrk="1" fontAlgn="auto" latinLnBrk="0" hangingPunct="1">
                <a:lnSpc>
                  <a:spcPct val="150000"/>
                </a:lnSpc>
                <a:spcBef>
                  <a:spcPts val="504"/>
                </a:spcBef>
                <a:spcAft>
                  <a:spcPts val="0"/>
                </a:spcAft>
                <a:buClrTx/>
                <a:buSzPts val="2520"/>
                <a:buFont typeface="Arial" panose="020B0604020202020204" pitchFamily="34" charset="0"/>
                <a:buChar char="•"/>
                <a:tabLst>
                  <a:tab pos="444500" algn="l"/>
                </a:tabLst>
                <a:defRPr/>
              </a:pPr>
              <a:endParaRPr kumimoji="0" lang="en-US" sz="200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30000"/>
                </a:lnSpc>
                <a:spcBef>
                  <a:spcPts val="504"/>
                </a:spcBef>
                <a:spcAft>
                  <a:spcPts val="0"/>
                </a:spcAft>
                <a:buClrTx/>
                <a:buSzPts val="2520"/>
                <a:buFont typeface="Arial" panose="020B0604020202020204" pitchFamily="34" charset="0"/>
                <a:buChar char="•"/>
                <a:tabLst/>
                <a:defRPr/>
              </a:pPr>
              <a:endParaRPr kumimoji="0" lang="en-US" sz="2200" b="0"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a:p>
              <a:pPr marL="228600" marR="0" lvl="0" indent="-228600" algn="l" defTabSz="914400" rtl="0" eaLnBrk="1" fontAlgn="auto" latinLnBrk="0" hangingPunct="1">
                <a:lnSpc>
                  <a:spcPct val="100000"/>
                </a:lnSpc>
                <a:spcBef>
                  <a:spcPts val="0"/>
                </a:spcBef>
                <a:spcAft>
                  <a:spcPts val="0"/>
                </a:spcAft>
                <a:buClrTx/>
                <a:buSzTx/>
                <a:buFont typeface="Arial" panose="020B0604020202020204" pitchFamily="34" charset="0"/>
                <a:buChar char="•"/>
                <a:tabLst/>
                <a:defRPr/>
              </a:pPr>
              <a:endParaRPr kumimoji="0" lang="en-IN" sz="2400" b="0" i="0" u="none" strike="noStrike" kern="1200" cap="none" spc="0" normalizeH="0" baseline="0" noProof="0" dirty="0">
                <a:ln>
                  <a:noFill/>
                </a:ln>
                <a:solidFill>
                  <a:prstClr val="black"/>
                </a:solidFill>
                <a:effectLst/>
                <a:uLnTx/>
                <a:uFillTx/>
                <a:latin typeface="Times New Roman" panose="02020603050405020304" pitchFamily="18" charset="0"/>
                <a:ea typeface="+mn-ea"/>
                <a:cs typeface="Times New Roman" panose="02020603050405020304" pitchFamily="18" charset="0"/>
              </a:endParaRPr>
            </a:p>
          </p:txBody>
        </p:sp>
        <p:pic>
          <p:nvPicPr>
            <p:cNvPr id="36" name="Graphic 35">
              <a:extLst>
                <a:ext uri="{FF2B5EF4-FFF2-40B4-BE49-F238E27FC236}">
                  <a16:creationId xmlns:a16="http://schemas.microsoft.com/office/drawing/2014/main" id="{55B3B570-3194-94D5-869B-2F3E3E133BA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683523" y="4358877"/>
              <a:ext cx="455841" cy="536286"/>
            </a:xfrm>
            <a:prstGeom prst="rect">
              <a:avLst/>
            </a:prstGeom>
          </p:spPr>
        </p:pic>
        <p:pic>
          <p:nvPicPr>
            <p:cNvPr id="37" name="Graphic 36">
              <a:extLst>
                <a:ext uri="{FF2B5EF4-FFF2-40B4-BE49-F238E27FC236}">
                  <a16:creationId xmlns:a16="http://schemas.microsoft.com/office/drawing/2014/main" id="{A01B3509-5090-7764-12FF-0CDB13E360AA}"/>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7229942" y="3813495"/>
              <a:ext cx="455841" cy="536286"/>
            </a:xfrm>
            <a:prstGeom prst="rect">
              <a:avLst/>
            </a:prstGeom>
          </p:spPr>
        </p:pic>
        <p:pic>
          <p:nvPicPr>
            <p:cNvPr id="38" name="Graphic 37">
              <a:extLst>
                <a:ext uri="{FF2B5EF4-FFF2-40B4-BE49-F238E27FC236}">
                  <a16:creationId xmlns:a16="http://schemas.microsoft.com/office/drawing/2014/main" id="{4A5FDD7E-5A46-92A5-C963-19E091BBF72C}"/>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863353" y="3200501"/>
              <a:ext cx="455841" cy="536286"/>
            </a:xfrm>
            <a:prstGeom prst="rect">
              <a:avLst/>
            </a:prstGeom>
          </p:spPr>
        </p:pic>
        <p:pic>
          <p:nvPicPr>
            <p:cNvPr id="39" name="Graphic 38">
              <a:extLst>
                <a:ext uri="{FF2B5EF4-FFF2-40B4-BE49-F238E27FC236}">
                  <a16:creationId xmlns:a16="http://schemas.microsoft.com/office/drawing/2014/main" id="{C50C5009-E2F0-E358-4C45-CAEADDEC93B4}"/>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443196" y="2766955"/>
              <a:ext cx="455841" cy="536286"/>
            </a:xfrm>
            <a:prstGeom prst="rect">
              <a:avLst/>
            </a:prstGeom>
          </p:spPr>
        </p:pic>
        <p:pic>
          <p:nvPicPr>
            <p:cNvPr id="40" name="Graphic 39">
              <a:extLst>
                <a:ext uri="{FF2B5EF4-FFF2-40B4-BE49-F238E27FC236}">
                  <a16:creationId xmlns:a16="http://schemas.microsoft.com/office/drawing/2014/main" id="{F1D91F2F-C2FB-3146-467B-21A20C8410DF}"/>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6040392" y="2252522"/>
              <a:ext cx="455841" cy="536286"/>
            </a:xfrm>
            <a:prstGeom prst="rect">
              <a:avLst/>
            </a:prstGeom>
          </p:spPr>
        </p:pic>
        <p:pic>
          <p:nvPicPr>
            <p:cNvPr id="41" name="Graphic 40">
              <a:extLst>
                <a:ext uri="{FF2B5EF4-FFF2-40B4-BE49-F238E27FC236}">
                  <a16:creationId xmlns:a16="http://schemas.microsoft.com/office/drawing/2014/main" id="{7B0FD951-BFA0-1228-E572-2BFE866AEE71}"/>
                </a:ext>
              </a:extLst>
            </p:cNvPr>
            <p:cNvPicPr>
              <a:picLocks noChangeAspect="1"/>
            </p:cNvPicPr>
            <p:nvPr/>
          </p:nvPicPr>
          <p:blipFill>
            <a:blip>
              <a:extLst>
                <a:ext uri="{28A0092B-C50C-407E-A947-70E740481C1C}">
                  <a14:useLocalDpi xmlns:a14="http://schemas.microsoft.com/office/drawing/2010/main" val="0"/>
                </a:ext>
                <a:ext uri="{96DAC541-7B7A-43D3-8B79-37D633B846F1}">
                  <asvg:svgBlip xmlns:asvg="http://schemas.microsoft.com/office/drawing/2016/SVG/main" r:embed="rId2"/>
                </a:ext>
                <a:ext uri="{837473B0-CC2E-450A-ABE3-18F120FF3D39}">
                  <a1611:picAttrSrcUrl xmlns:a1611="http://schemas.microsoft.com/office/drawing/2016/11/main" r:id="rId3"/>
                </a:ext>
              </a:extLst>
            </a:blip>
            <a:stretch>
              <a:fillRect/>
            </a:stretch>
          </p:blipFill>
          <p:spPr>
            <a:xfrm rot="21415757" flipH="1">
              <a:off x="5626122" y="1721293"/>
              <a:ext cx="455841" cy="536286"/>
            </a:xfrm>
            <a:prstGeom prst="rect">
              <a:avLst/>
            </a:prstGeom>
          </p:spPr>
        </p:pic>
        <p:sp>
          <p:nvSpPr>
            <p:cNvPr id="14" name="TextBox 13">
              <a:extLst>
                <a:ext uri="{FF2B5EF4-FFF2-40B4-BE49-F238E27FC236}">
                  <a16:creationId xmlns:a16="http://schemas.microsoft.com/office/drawing/2014/main" id="{576F380C-3238-E430-3C22-3C23884CE532}"/>
                </a:ext>
              </a:extLst>
            </p:cNvPr>
            <p:cNvSpPr txBox="1"/>
            <p:nvPr/>
          </p:nvSpPr>
          <p:spPr>
            <a:xfrm>
              <a:off x="2490411" y="2773626"/>
              <a:ext cx="4004225" cy="506870"/>
            </a:xfrm>
            <a:prstGeom prst="rect">
              <a:avLst/>
            </a:prstGeom>
            <a:solidFill>
              <a:schemeClr val="tx1">
                <a:lumMod val="75000"/>
                <a:lumOff val="25000"/>
              </a:schemeClr>
            </a:solidFill>
            <a:ln w="19050">
              <a:solidFill>
                <a:schemeClr val="accent4"/>
              </a:solidFill>
            </a:ln>
          </p:spPr>
          <p:style>
            <a:lnRef idx="1">
              <a:schemeClr val="accent2"/>
            </a:lnRef>
            <a:fillRef idx="2">
              <a:schemeClr val="accent2"/>
            </a:fillRef>
            <a:effectRef idx="1">
              <a:schemeClr val="accent2"/>
            </a:effectRef>
            <a:fontRef idx="minor">
              <a:schemeClr val="dk1"/>
            </a:fontRef>
          </p:style>
          <p:txBody>
            <a:bodyPr wrap="square">
              <a:spAutoFit/>
            </a:bodyPr>
            <a:lstStyle/>
            <a:p>
              <a:pPr marL="430213" marR="0" lvl="0" indent="-342900" algn="l" defTabSz="457200" rtl="0" eaLnBrk="1" fontAlgn="auto" latinLnBrk="0" hangingPunct="1">
                <a:lnSpc>
                  <a:spcPct val="150000"/>
                </a:lnSpc>
                <a:spcBef>
                  <a:spcPts val="0"/>
                </a:spcBef>
                <a:spcAft>
                  <a:spcPts val="0"/>
                </a:spcAft>
                <a:buClrTx/>
                <a:buSzPts val="2520"/>
                <a:buFont typeface="Arial" panose="020B0604020202020204" pitchFamily="34" charset="0"/>
                <a:buChar char="•"/>
                <a:tabLst>
                  <a:tab pos="444500" algn="l"/>
                </a:tabLst>
                <a:defRPr/>
              </a:pPr>
              <a:r>
                <a:rPr kumimoji="0" lang="en-US" sz="2040" b="1" i="0" u="none" strike="noStrike" kern="1200" cap="none" spc="0" normalizeH="0" baseline="0" noProof="0" dirty="0">
                  <a:ln>
                    <a:noFill/>
                  </a:ln>
                  <a:solidFill>
                    <a:prstClr val="white"/>
                  </a:solidFill>
                  <a:effectLst/>
                  <a:uLnTx/>
                  <a:uFillTx/>
                  <a:latin typeface="Times New Roman" pitchFamily="18" charset="0"/>
                  <a:ea typeface="Calibri"/>
                  <a:cs typeface="Times New Roman" pitchFamily="18" charset="0"/>
                  <a:sym typeface="Calibri"/>
                </a:rPr>
                <a:t>Literature Survey</a:t>
              </a:r>
              <a:endParaRPr kumimoji="0" lang="en-US" sz="2040" b="1" i="0" u="none" strike="noStrike" kern="1200" cap="none" spc="0" normalizeH="0" baseline="0" noProof="0" dirty="0">
                <a:ln>
                  <a:noFill/>
                </a:ln>
                <a:solidFill>
                  <a:prstClr val="black"/>
                </a:solidFill>
                <a:effectLst/>
                <a:uLnTx/>
                <a:uFillTx/>
                <a:latin typeface="Times New Roman" pitchFamily="18" charset="0"/>
                <a:ea typeface="Calibri"/>
                <a:cs typeface="Times New Roman" pitchFamily="18" charset="0"/>
                <a:sym typeface="Calibri"/>
              </a:endParaRPr>
            </a:p>
          </p:txBody>
        </p:sp>
      </p:grpSp>
      <p:graphicFrame>
        <p:nvGraphicFramePr>
          <p:cNvPr id="26" name="Diagram 25">
            <a:extLst>
              <a:ext uri="{FF2B5EF4-FFF2-40B4-BE49-F238E27FC236}">
                <a16:creationId xmlns:a16="http://schemas.microsoft.com/office/drawing/2014/main" id="{C044B753-17EC-8A45-927F-C44CC40ED5BA}"/>
              </a:ext>
            </a:extLst>
          </p:cNvPr>
          <p:cNvGraphicFramePr/>
          <p:nvPr/>
        </p:nvGraphicFramePr>
        <p:xfrm>
          <a:off x="41510" y="115414"/>
          <a:ext cx="1474694" cy="942343"/>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10" name="Picture 9">
            <a:extLst>
              <a:ext uri="{FF2B5EF4-FFF2-40B4-BE49-F238E27FC236}">
                <a16:creationId xmlns:a16="http://schemas.microsoft.com/office/drawing/2014/main" id="{0B4D1914-919F-D842-1FC2-1BBFC0E95C24}"/>
              </a:ext>
            </a:extLst>
          </p:cNvPr>
          <p:cNvPicPr>
            <a:picLocks noChangeAspect="1"/>
          </p:cNvPicPr>
          <p:nvPr/>
        </p:nvPicPr>
        <p:blipFill>
          <a:blip r:embed="rId9"/>
          <a:stretch>
            <a:fillRect/>
          </a:stretch>
        </p:blipFill>
        <p:spPr>
          <a:xfrm>
            <a:off x="10249380" y="0"/>
            <a:ext cx="1901110" cy="622550"/>
          </a:xfrm>
          <a:prstGeom prst="rect">
            <a:avLst/>
          </a:prstGeom>
        </p:spPr>
      </p:pic>
    </p:spTree>
    <p:extLst>
      <p:ext uri="{BB962C8B-B14F-4D97-AF65-F5344CB8AC3E}">
        <p14:creationId xmlns:p14="http://schemas.microsoft.com/office/powerpoint/2010/main" val="274796949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68C8F81-5402-FBBE-D32A-834F3C60336F}"/>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8DBD4C9C-9DEB-26F4-AA75-F51C06DD64DC}"/>
              </a:ext>
            </a:extLst>
          </p:cNvPr>
          <p:cNvSpPr txBox="1"/>
          <p:nvPr/>
        </p:nvSpPr>
        <p:spPr>
          <a:xfrm>
            <a:off x="3991897" y="482232"/>
            <a:ext cx="6096000" cy="646331"/>
          </a:xfrm>
          <a:prstGeom prst="rect">
            <a:avLst/>
          </a:prstGeom>
          <a:noFill/>
        </p:spPr>
        <p:txBody>
          <a:bodyPr wrap="square">
            <a:spAutoFit/>
          </a:bodyPr>
          <a:lstStyle/>
          <a:p>
            <a:r>
              <a:rPr lang="en-US" sz="3600" b="1" dirty="0"/>
              <a:t>Problem Statement</a:t>
            </a:r>
          </a:p>
        </p:txBody>
      </p:sp>
      <p:pic>
        <p:nvPicPr>
          <p:cNvPr id="3" name="Picture 2">
            <a:extLst>
              <a:ext uri="{FF2B5EF4-FFF2-40B4-BE49-F238E27FC236}">
                <a16:creationId xmlns:a16="http://schemas.microsoft.com/office/drawing/2014/main" id="{17A614DC-364B-1BD9-B452-BC2E55FD9D04}"/>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838200" y="1500000"/>
            <a:ext cx="10515600" cy="3000000"/>
          </a:xfrm>
          <a:prstGeom prst="rect">
            <a:avLst/>
          </a:prstGeom>
          <a:noFill/>
        </p:spPr>
        <p:txBody>
          <a:bodyPr wrap="square">
            <a:spAutoFit/>
          </a:bodyPr>
          <a:lstStyle/>
          <a:p>
            <a:pPr>
              <a:lnSpc>
                <a:spcPct val="125000"/>
              </a:lnSpc>
            </a:pPr>
            <a:r>
              <a:rPr sz="2200">
                <a:solidFill>
                  <a:srgbClr val="1A1A1A"/>
                </a:solidFill>
                <a:latin typeface="Times New Roman"/>
              </a:rPr>
              <a:t>Many private vehicles travel with unused seats while other commuters travel along similar routes, resulting in poor vehicle utilization, higher individual travel costs, and unnecessary traffic congestion. Coordinating rides informally through calls or messaging groups is inconvenient, lacks verification, and does not scale. There is a need for a centralized, secure platform where drivers can offer available seats and passengers can search, book, and manage rides efficiently, without relying on ad-hoc arrangements.</a:t>
            </a:r>
          </a:p>
        </p:txBody>
      </p:sp>
    </p:spTree>
    <p:extLst>
      <p:ext uri="{BB962C8B-B14F-4D97-AF65-F5344CB8AC3E}">
        <p14:creationId xmlns:p14="http://schemas.microsoft.com/office/powerpoint/2010/main" val="1843937772"/>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D4AF34-8CFC-8161-A3CD-DED259C92A6A}"/>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7F508849-A0DD-12D4-FD0D-5322CA138B2F}"/>
              </a:ext>
            </a:extLst>
          </p:cNvPr>
          <p:cNvSpPr txBox="1"/>
          <p:nvPr/>
        </p:nvSpPr>
        <p:spPr>
          <a:xfrm>
            <a:off x="3048000" y="469169"/>
            <a:ext cx="6096000" cy="646331"/>
          </a:xfrm>
          <a:prstGeom prst="rect">
            <a:avLst/>
          </a:prstGeom>
          <a:noFill/>
        </p:spPr>
        <p:txBody>
          <a:bodyPr wrap="square">
            <a:spAutoFit/>
          </a:bodyPr>
          <a:lstStyle/>
          <a:p>
            <a:pPr algn="ctr"/>
            <a:r>
              <a:rPr lang="en-US" sz="3600" b="1" dirty="0"/>
              <a:t>Objectives</a:t>
            </a:r>
          </a:p>
        </p:txBody>
      </p:sp>
      <p:pic>
        <p:nvPicPr>
          <p:cNvPr id="3" name="Picture 2">
            <a:extLst>
              <a:ext uri="{FF2B5EF4-FFF2-40B4-BE49-F238E27FC236}">
                <a16:creationId xmlns:a16="http://schemas.microsoft.com/office/drawing/2014/main" id="{5B2C6E66-DFCA-CBBA-3972-F62C5800AE03}"/>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838200" y="1450000"/>
            <a:ext cx="10515600" cy="4000000"/>
          </a:xfrm>
          <a:prstGeom prst="rect">
            <a:avLst/>
          </a:prstGeom>
          <a:noFill/>
        </p:spPr>
        <p:txBody>
          <a:bodyPr wrap="square">
            <a:spAutoFit/>
          </a:bodyPr>
          <a:lstStyle/>
          <a:p>
            <a:pPr>
              <a:lnSpc>
                <a:spcPct val="115000"/>
              </a:lnSpc>
              <a:spcAft>
                <a:spcPts val="1000"/>
              </a:spcAft>
            </a:pPr>
            <a:r>
              <a:rPr sz="1900">
                <a:solidFill>
                  <a:srgbClr val="1A1A1A"/>
                </a:solidFill>
                <a:latin typeface="Times New Roman"/>
              </a:rPr>
              <a:t>•  Design and develop a centralized carpooling platform connecting drivers and passengers travelling similar routes</a:t>
            </a:r>
          </a:p>
          <a:p>
            <a:pPr>
              <a:lnSpc>
                <a:spcPct val="115000"/>
              </a:lnSpc>
              <a:spcAft>
                <a:spcPts val="1000"/>
              </a:spcAft>
            </a:pPr>
            <a:r>
              <a:rPr sz="1900">
                <a:solidFill>
                  <a:srgbClr val="1A1A1A"/>
                </a:solidFill>
                <a:latin typeface="Times New Roman"/>
              </a:rPr>
              <a:t>•  Enable drivers to create rides by specifying route, date, time and available seats</a:t>
            </a:r>
          </a:p>
          <a:p>
            <a:pPr>
              <a:lnSpc>
                <a:spcPct val="115000"/>
              </a:lnSpc>
              <a:spcAft>
                <a:spcPts val="1000"/>
              </a:spcAft>
            </a:pPr>
            <a:r>
              <a:rPr sz="1900">
                <a:solidFill>
                  <a:srgbClr val="1A1A1A"/>
                </a:solidFill>
                <a:latin typeface="Times New Roman"/>
              </a:rPr>
              <a:t>•  Allow passengers to search, filter and book available ride seats based on their travel needs</a:t>
            </a:r>
          </a:p>
          <a:p>
            <a:pPr>
              <a:lnSpc>
                <a:spcPct val="115000"/>
              </a:lnSpc>
              <a:spcAft>
                <a:spcPts val="1000"/>
              </a:spcAft>
            </a:pPr>
            <a:r>
              <a:rPr sz="1900">
                <a:solidFill>
                  <a:srgbClr val="1A1A1A"/>
                </a:solidFill>
                <a:latin typeface="Times New Roman"/>
              </a:rPr>
              <a:t>•  Provide secure user authentication and role-based authorization for drivers and passengers</a:t>
            </a:r>
          </a:p>
          <a:p>
            <a:pPr>
              <a:lnSpc>
                <a:spcPct val="115000"/>
              </a:lnSpc>
              <a:spcAft>
                <a:spcPts val="1000"/>
              </a:spcAft>
            </a:pPr>
            <a:r>
              <a:rPr sz="1900">
                <a:solidFill>
                  <a:srgbClr val="1A1A1A"/>
                </a:solidFill>
                <a:latin typeface="Times New Roman"/>
              </a:rPr>
              <a:t>•  Build the backend using a microservices architecture (User, Ride, Booking, Notification services) for scalability and maintainability</a:t>
            </a:r>
          </a:p>
          <a:p>
            <a:pPr>
              <a:lnSpc>
                <a:spcPct val="115000"/>
              </a:lnSpc>
              <a:spcAft>
                <a:spcPts val="1000"/>
              </a:spcAft>
            </a:pPr>
            <a:r>
              <a:rPr sz="1900">
                <a:solidFill>
                  <a:srgbClr val="1A1A1A"/>
                </a:solidFill>
                <a:latin typeface="Times New Roman"/>
              </a:rPr>
              <a:t>•  Implement API routing and service discovery using Spring Cloud Gateway and Eureka</a:t>
            </a:r>
          </a:p>
          <a:p>
            <a:pPr>
              <a:lnSpc>
                <a:spcPct val="115000"/>
              </a:lnSpc>
              <a:spcAft>
                <a:spcPts val="1000"/>
              </a:spcAft>
            </a:pPr>
            <a:r>
              <a:rPr sz="1900">
                <a:solidFill>
                  <a:srgbClr val="1A1A1A"/>
                </a:solidFill>
                <a:latin typeface="Times New Roman"/>
              </a:rPr>
              <a:t>•  Reduce individual travel costs and improve vehicle utilization through shared rides</a:t>
            </a:r>
          </a:p>
        </p:txBody>
      </p:sp>
    </p:spTree>
    <p:extLst>
      <p:ext uri="{BB962C8B-B14F-4D97-AF65-F5344CB8AC3E}">
        <p14:creationId xmlns:p14="http://schemas.microsoft.com/office/powerpoint/2010/main" val="391778294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Content Placeholder 3">
            <a:extLst>
              <a:ext uri="{FF2B5EF4-FFF2-40B4-BE49-F238E27FC236}">
                <a16:creationId xmlns:a16="http://schemas.microsoft.com/office/drawing/2014/main" id="{AACD11AD-3AF5-B626-2B60-0567E4585BB7}"/>
              </a:ext>
            </a:extLst>
          </p:cNvPr>
          <p:cNvGraphicFramePr>
            <a:graphicFrameLocks/>
          </p:cNvGraphicFramePr>
          <p:nvPr>
            <p:extLst>
              <p:ext uri="{D42A27DB-BD31-4B8C-83A1-F6EECF244321}">
                <p14:modId xmlns:p14="http://schemas.microsoft.com/office/powerpoint/2010/main" val="1314751176"/>
              </p:ext>
            </p:extLst>
          </p:nvPr>
        </p:nvGraphicFramePr>
        <p:xfrm>
          <a:off x="274646" y="689466"/>
          <a:ext cx="11642705" cy="4656054"/>
        </p:xfrm>
        <a:graphic>
          <a:graphicData uri="http://schemas.openxmlformats.org/drawingml/2006/table">
            <a:tbl>
              <a:tblPr firstRow="1" bandRow="1">
                <a:tableStyleId>{BC89EF96-8CEA-46FF-86C4-4CE0E7609802}</a:tableStyleId>
              </a:tblPr>
              <a:tblGrid>
                <a:gridCol w="1089006">
                  <a:extLst>
                    <a:ext uri="{9D8B030D-6E8A-4147-A177-3AD203B41FA5}">
                      <a16:colId xmlns:a16="http://schemas.microsoft.com/office/drawing/2014/main" val="20001"/>
                    </a:ext>
                  </a:extLst>
                </a:gridCol>
                <a:gridCol w="2275288">
                  <a:extLst>
                    <a:ext uri="{9D8B030D-6E8A-4147-A177-3AD203B41FA5}">
                      <a16:colId xmlns:a16="http://schemas.microsoft.com/office/drawing/2014/main" val="20002"/>
                    </a:ext>
                  </a:extLst>
                </a:gridCol>
                <a:gridCol w="2476109">
                  <a:extLst>
                    <a:ext uri="{9D8B030D-6E8A-4147-A177-3AD203B41FA5}">
                      <a16:colId xmlns:a16="http://schemas.microsoft.com/office/drawing/2014/main" val="20003"/>
                    </a:ext>
                  </a:extLst>
                </a:gridCol>
                <a:gridCol w="2936588">
                  <a:extLst>
                    <a:ext uri="{9D8B030D-6E8A-4147-A177-3AD203B41FA5}">
                      <a16:colId xmlns:a16="http://schemas.microsoft.com/office/drawing/2014/main" val="20004"/>
                    </a:ext>
                  </a:extLst>
                </a:gridCol>
                <a:gridCol w="2865714">
                  <a:extLst>
                    <a:ext uri="{9D8B030D-6E8A-4147-A177-3AD203B41FA5}">
                      <a16:colId xmlns:a16="http://schemas.microsoft.com/office/drawing/2014/main" val="1396003017"/>
                    </a:ext>
                  </a:extLst>
                </a:gridCol>
              </a:tblGrid>
              <a:tr h="387917">
                <a:tc>
                  <a:txBody>
                    <a:bodyPr/>
                    <a:lstStyle/>
                    <a:p>
                      <a:pPr algn="ctr">
                        <a:buNone/>
                      </a:pPr>
                      <a:r>
                        <a:rPr lang="en-US" dirty="0">
                          <a:latin typeface="Times New Roman" pitchFamily="18" charset="0"/>
                          <a:cs typeface="Times New Roman" pitchFamily="18" charset="0"/>
                        </a:rPr>
                        <a:t>Authors</a:t>
                      </a:r>
                    </a:p>
                  </a:txBody>
                  <a:tcPr>
                    <a:solidFill>
                      <a:srgbClr val="FFFF00"/>
                    </a:solidFill>
                  </a:tcPr>
                </a:tc>
                <a:tc>
                  <a:txBody>
                    <a:bodyPr/>
                    <a:lstStyle/>
                    <a:p>
                      <a:pPr marL="0" marR="0" lvl="0" indent="0" algn="ctr" defTabSz="914400" rtl="0" eaLnBrk="1" fontAlgn="auto" latinLnBrk="0" hangingPunct="1">
                        <a:lnSpc>
                          <a:spcPct val="100000"/>
                        </a:lnSpc>
                        <a:spcBef>
                          <a:spcPts val="0"/>
                        </a:spcBef>
                        <a:spcAft>
                          <a:spcPts val="0"/>
                        </a:spcAft>
                        <a:buClr>
                          <a:srgbClr val="000000"/>
                        </a:buClr>
                        <a:buSzTx/>
                        <a:buFont typeface="Arial"/>
                        <a:buNone/>
                        <a:tabLst/>
                        <a:defRPr/>
                      </a:pPr>
                      <a:r>
                        <a:rPr lang="en-US" dirty="0">
                          <a:latin typeface="Times New Roman" pitchFamily="18" charset="0"/>
                          <a:cs typeface="Times New Roman" pitchFamily="18" charset="0"/>
                        </a:rPr>
                        <a:t>Title of the Paper</a:t>
                      </a:r>
                    </a:p>
                  </a:txBody>
                  <a:tcPr>
                    <a:solidFill>
                      <a:srgbClr val="FFFF00"/>
                    </a:solidFill>
                  </a:tcPr>
                </a:tc>
                <a:tc>
                  <a:txBody>
                    <a:bodyPr/>
                    <a:lstStyle/>
                    <a:p>
                      <a:pPr algn="ctr">
                        <a:buNone/>
                      </a:pPr>
                      <a:r>
                        <a:rPr lang="en-US" dirty="0">
                          <a:latin typeface="Times New Roman" pitchFamily="18" charset="0"/>
                          <a:cs typeface="Times New Roman" pitchFamily="18" charset="0"/>
                        </a:rPr>
                        <a:t>Methodology</a:t>
                      </a:r>
                    </a:p>
                  </a:txBody>
                  <a:tcPr>
                    <a:solidFill>
                      <a:srgbClr val="FFFF00"/>
                    </a:solidFill>
                  </a:tcPr>
                </a:tc>
                <a:tc>
                  <a:txBody>
                    <a:bodyPr/>
                    <a:lstStyle/>
                    <a:p>
                      <a:pPr algn="ctr">
                        <a:buNone/>
                      </a:pPr>
                      <a:r>
                        <a:rPr lang="en-US" dirty="0">
                          <a:latin typeface="Times New Roman" pitchFamily="18" charset="0"/>
                          <a:cs typeface="Times New Roman" pitchFamily="18" charset="0"/>
                        </a:rPr>
                        <a:t>Inferences</a:t>
                      </a:r>
                    </a:p>
                  </a:txBody>
                  <a:tcPr>
                    <a:solidFill>
                      <a:srgbClr val="FFFF00"/>
                    </a:solidFill>
                  </a:tcPr>
                </a:tc>
                <a:tc>
                  <a:txBody>
                    <a:bodyPr/>
                    <a:lstStyle/>
                    <a:p>
                      <a:pPr algn="ctr">
                        <a:buNone/>
                      </a:pPr>
                      <a:r>
                        <a:rPr lang="en-US" dirty="0">
                          <a:latin typeface="Times New Roman" pitchFamily="18" charset="0"/>
                          <a:cs typeface="Times New Roman" pitchFamily="18" charset="0"/>
                        </a:rPr>
                        <a:t>Limitation/Future work</a:t>
                      </a:r>
                    </a:p>
                  </a:txBody>
                  <a:tcPr>
                    <a:solidFill>
                      <a:srgbClr val="FFFF00"/>
                    </a:solidFill>
                  </a:tcPr>
                </a:tc>
                <a:extLst>
                  <a:ext uri="{0D108BD9-81ED-4DB2-BD59-A6C34878D82A}">
                    <a16:rowId xmlns:a16="http://schemas.microsoft.com/office/drawing/2014/main" val="10000"/>
                  </a:ext>
                </a:extLst>
              </a:tr>
              <a:tr h="1541937">
                <a:tc>
                  <a:txBody>
                    <a:bodyPr/>
                    <a:lstStyle/>
                    <a:p>
                      <a:pPr marL="0" algn="l" defTabSz="914400" rtl="0" eaLnBrk="1" latinLnBrk="0" hangingPunct="1"/>
                      <a:r>
                        <a:rPr sz="1400">
                          <a:latin typeface="Times New Roman"/>
                        </a:rPr>
                        <a:t>Kanagasabai et al. [1]</a:t>
                      </a:r>
                    </a:p>
                  </a:txBody>
                  <a:tcPr/>
                </a:tc>
                <a:tc>
                  <a:txBody>
                    <a:bodyPr/>
                    <a:lstStyle/>
                    <a:p>
                      <a:pPr algn="l"/>
                      <a:r>
                        <a:rPr sz="1400" dirty="0">
                          <a:latin typeface="Times New Roman"/>
                        </a:rPr>
                        <a:t>Towards Sustainable Commuting: Development of a Carpool Ride-Sharing Platform with Real-Time Tracking and Safety Features, IJRISS, 2025</a:t>
                      </a: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sz="1400" dirty="0">
                          <a:latin typeface="Times New Roman"/>
                        </a:rPr>
                        <a:t>Layered three-tier modular architecture (presentation, business logic, data) for a carpool ride-sharing application</a:t>
                      </a:r>
                    </a:p>
                  </a:txBody>
                  <a:tcPr/>
                </a:tc>
                <a:tc>
                  <a:txBody>
                    <a:bodyPr/>
                    <a:lstStyle/>
                    <a:p>
                      <a:pPr marL="285750" marR="0" indent="-285750" algn="just" defTabSz="914400" rtl="0" eaLnBrk="1" latinLnBrk="0" hangingPunct="1">
                        <a:lnSpc>
                          <a:spcPct val="100000"/>
                        </a:lnSpc>
                        <a:spcBef>
                          <a:spcPts val="0"/>
                        </a:spcBef>
                        <a:spcAft>
                          <a:spcPts val="0"/>
                        </a:spcAft>
                        <a:buClr>
                          <a:srgbClr val="000000"/>
                        </a:buClr>
                        <a:buFont typeface="Arial" panose="020B0604020202020204" pitchFamily="34" charset="0"/>
                        <a:buChar char="•"/>
                      </a:pPr>
                      <a:r>
                        <a:rPr sz="1400">
                          <a:latin typeface="Times New Roman"/>
                        </a:rPr>
                        <a:t>Shows that a modular, tiered architecture improves scalability and maintainability for ride-sharing platforms with real-time tracking and safety features</a:t>
                      </a:r>
                    </a:p>
                  </a:txBody>
                  <a:tcPr/>
                </a:tc>
                <a:tc>
                  <a:txBody>
                    <a:bodyPr/>
                    <a:lstStyle/>
                    <a:p>
                      <a:pPr marL="285750" indent="-285750" algn="l" defTabSz="914400" rtl="0" eaLnBrk="1" latinLnBrk="0" hangingPunct="1">
                        <a:buFont typeface="Arial" panose="020B0604020202020204" pitchFamily="34" charset="0"/>
                        <a:buChar char="•"/>
                      </a:pPr>
                      <a:r>
                        <a:rPr sz="1400">
                          <a:latin typeface="Times New Roman"/>
                        </a:rPr>
                        <a:t>Uses a monolithic layered design rather than independently deployable microservices, limiting fine-grained scalability of individual features</a:t>
                      </a:r>
                      <a:endParaRPr lang="en-US" sz="1400" b="0" i="0" u="none" kern="1200" dirty="0">
                        <a:solidFill>
                          <a:srgbClr val="FF0000"/>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3714155954"/>
                  </a:ext>
                </a:extLst>
              </a:tr>
              <a:tr h="1354600">
                <a:tc>
                  <a:txBody>
                    <a:bodyPr/>
                    <a:lstStyle/>
                    <a:p>
                      <a:pPr marL="0" algn="l" defTabSz="914400" rtl="0" eaLnBrk="1" latinLnBrk="0" hangingPunct="1"/>
                      <a:r>
                        <a:rPr sz="1400">
                          <a:latin typeface="Times New Roman"/>
                        </a:rPr>
                        <a:t>Zhao et al. [2]</a:t>
                      </a:r>
                      <a:endParaRPr lang="en-IN" sz="1400" b="0"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sz="1400">
                          <a:latin typeface="Times New Roman"/>
                        </a:rPr>
                        <a:t>Design of Architecture for Carpooling Based on Flexible Pickup and Delivery Locations, Springer, 2021</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sz="1400">
                          <a:latin typeface="Times New Roman"/>
                        </a:rPr>
                        <a:t>Proposes a carpooling system architecture with added service quality assessment and KPI-based reporting components</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sz="1400">
                          <a:latin typeface="Times New Roman"/>
                        </a:rPr>
                        <a:t>Demonstrates that quality-assessment and reporting components help bridge mathematical carpool-matching models and real-world system architecture</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sz="1400">
                          <a:latin typeface="Times New Roman"/>
                        </a:rPr>
                        <a:t>Focuses on matching and pickup/delivery flexibility; does not address distributed deployment, authentication or service-to-service communication</a:t>
                      </a:r>
                      <a:endParaRPr lang="en-US" sz="1400" b="0"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655426370"/>
                  </a:ext>
                </a:extLst>
              </a:tr>
              <a:tr h="1354600">
                <a:tc>
                  <a:txBody>
                    <a:bodyPr/>
                    <a:lstStyle/>
                    <a:p>
                      <a:pPr marL="0" algn="l" defTabSz="914400" rtl="0" eaLnBrk="1" latinLnBrk="0" hangingPunct="1"/>
                      <a:r>
                        <a:rPr sz="1400">
                          <a:latin typeface="Times New Roman"/>
                        </a:rPr>
                        <a:t>IJRAR Survey [3]</a:t>
                      </a:r>
                      <a:endParaRPr lang="en-IN" sz="1400" b="1" i="0" u="none" kern="1200" dirty="0">
                        <a:solidFill>
                          <a:schemeClr val="dk1"/>
                        </a:solidFill>
                        <a:effectLst/>
                        <a:latin typeface="Times New Roman" panose="02020603050405020304" pitchFamily="18" charset="0"/>
                        <a:ea typeface="+mn-ea"/>
                        <a:cs typeface="Times New Roman" panose="02020603050405020304" pitchFamily="18" charset="0"/>
                      </a:endParaRPr>
                    </a:p>
                  </a:txBody>
                  <a:tcPr/>
                </a:tc>
                <a:tc>
                  <a:txBody>
                    <a:bodyPr/>
                    <a:lstStyle/>
                    <a:p>
                      <a:r>
                        <a:rPr sz="1400">
                          <a:latin typeface="Times New Roman"/>
                        </a:rPr>
                        <a:t>Real-time Smart Car Pooling and Ride Sharing System, IJRAR, 2020</a:t>
                      </a:r>
                      <a:endParaRPr lang="en-IN" sz="1400" b="1" i="0" u="none" kern="1200" dirty="0">
                        <a:solidFill>
                          <a:schemeClr val="tx1"/>
                        </a:solidFill>
                        <a:effectLst/>
                        <a:latin typeface="Times New Roman" panose="02020603050405020304" pitchFamily="18" charset="0"/>
                        <a:ea typeface="+mn-ea"/>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sz="1400">
                          <a:latin typeface="Times New Roman"/>
                        </a:rPr>
                        <a:t>Reviews multiple carpooling and ride-sharing techniques and proposes a mobile-based architecture with admin trip tracking</a:t>
                      </a:r>
                      <a:endParaRPr lang="en-US" sz="1400" b="0" u="none" kern="1200" dirty="0">
                        <a:solidFill>
                          <a:schemeClr val="dk1"/>
                        </a:solidFill>
                        <a:effectLst/>
                        <a:latin typeface="Times New Roman" panose="02020603050405020304" pitchFamily="18" charset="0"/>
                        <a:cs typeface="Times New Roman" panose="02020603050405020304" pitchFamily="18" charset="0"/>
                      </a:endParaRPr>
                    </a:p>
                  </a:txBody>
                  <a:tcPr/>
                </a:tc>
                <a:tc>
                  <a:txBody>
                    <a:bodyPr/>
                    <a:lstStyle/>
                    <a:p>
                      <a:pPr marL="285750" marR="0" indent="-285750" algn="l" defTabSz="914400" rtl="0" eaLnBrk="1" latinLnBrk="0" hangingPunct="1">
                        <a:lnSpc>
                          <a:spcPct val="100000"/>
                        </a:lnSpc>
                        <a:spcBef>
                          <a:spcPts val="0"/>
                        </a:spcBef>
                        <a:spcAft>
                          <a:spcPts val="0"/>
                        </a:spcAft>
                        <a:buClr>
                          <a:srgbClr val="000000"/>
                        </a:buClr>
                        <a:buFont typeface="Arial" panose="020B0604020202020204" pitchFamily="34" charset="0"/>
                        <a:buChar char="•"/>
                      </a:pPr>
                      <a:r>
                        <a:rPr sz="1400">
                          <a:latin typeface="Times New Roman"/>
                        </a:rPr>
                        <a:t>Finds that most existing carpooling apps focus mainly on inter-city travel and lack robust intra-city, real-time matching support</a:t>
                      </a:r>
                      <a:endParaRPr lang="en-US" sz="1400" b="0" i="0" u="none" kern="1200" dirty="0">
                        <a:solidFill>
                          <a:schemeClr val="dk1"/>
                        </a:solidFill>
                        <a:effectLst/>
                        <a:latin typeface="Times New Roman" panose="02020603050405020304" pitchFamily="18" charset="0"/>
                        <a:ea typeface="+mn-ea"/>
                        <a:cs typeface="Times New Roman" panose="02020603050405020304" pitchFamily="18" charset="0"/>
                        <a:sym typeface="Arial"/>
                      </a:endParaRPr>
                    </a:p>
                  </a:txBody>
                  <a:tcPr/>
                </a:tc>
                <a:tc>
                  <a:txBody>
                    <a:bodyPr/>
                    <a:lstStyle/>
                    <a:p>
                      <a:pPr marL="285750" indent="-285750" algn="l" defTabSz="914400" rtl="0" eaLnBrk="1" latinLnBrk="0" hangingPunct="1">
                        <a:buFont typeface="Arial" panose="020B0604020202020204" pitchFamily="34" charset="0"/>
                        <a:buChar char="•"/>
                      </a:pPr>
                      <a:r>
                        <a:rPr sz="1400" dirty="0">
                          <a:latin typeface="Times New Roman"/>
                        </a:rPr>
                        <a:t>Aims to extend carpooling to intra-city routes but does not adopt a service-oriented or microservices-based backend for scalability</a:t>
                      </a:r>
                      <a:endParaRPr lang="en-US" sz="1400" b="1" i="0" u="none" kern="1200" dirty="0">
                        <a:solidFill>
                          <a:schemeClr val="tx1"/>
                        </a:solidFill>
                        <a:effectLst/>
                        <a:latin typeface="Times New Roman" panose="02020603050405020304" pitchFamily="18" charset="0"/>
                        <a:ea typeface="+mn-ea"/>
                        <a:cs typeface="Times New Roman" panose="02020603050405020304" pitchFamily="18" charset="0"/>
                        <a:sym typeface="Arial"/>
                      </a:endParaRPr>
                    </a:p>
                  </a:txBody>
                  <a:tcPr/>
                </a:tc>
                <a:extLst>
                  <a:ext uri="{0D108BD9-81ED-4DB2-BD59-A6C34878D82A}">
                    <a16:rowId xmlns:a16="http://schemas.microsoft.com/office/drawing/2014/main" val="2841575018"/>
                  </a:ext>
                </a:extLst>
              </a:tr>
            </a:tbl>
          </a:graphicData>
        </a:graphic>
      </p:graphicFrame>
      <p:sp>
        <p:nvSpPr>
          <p:cNvPr id="2" name="TextBox 1">
            <a:extLst>
              <a:ext uri="{FF2B5EF4-FFF2-40B4-BE49-F238E27FC236}">
                <a16:creationId xmlns:a16="http://schemas.microsoft.com/office/drawing/2014/main" id="{C48F0022-391A-4CFC-2851-87E76B37EAC2}"/>
              </a:ext>
            </a:extLst>
          </p:cNvPr>
          <p:cNvSpPr txBox="1"/>
          <p:nvPr/>
        </p:nvSpPr>
        <p:spPr>
          <a:xfrm>
            <a:off x="4560565" y="136525"/>
            <a:ext cx="3070868" cy="523220"/>
          </a:xfrm>
          <a:prstGeom prst="rect">
            <a:avLst/>
          </a:prstGeom>
          <a:noFill/>
        </p:spPr>
        <p:txBody>
          <a:bodyPr wrap="square" rtlCol="0">
            <a:spAutoFit/>
          </a:bodyPr>
          <a:lstStyle/>
          <a:p>
            <a:pPr algn="ctr"/>
            <a:r>
              <a:rPr lang="en-IN" sz="2800" b="1" dirty="0">
                <a:solidFill>
                  <a:srgbClr val="0064C8"/>
                </a:solidFill>
                <a:latin typeface="Times New Roman" panose="02020603050405020304" pitchFamily="18" charset="0"/>
                <a:ea typeface="Cambria"/>
                <a:cs typeface="Times New Roman" panose="02020603050405020304" pitchFamily="18" charset="0"/>
              </a:rPr>
              <a:t>Literature Survey</a:t>
            </a:r>
            <a:endParaRPr lang="en-IN" sz="2800" b="1"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CF3EBAEA-8DC6-8F54-F0D6-38F9643BD4B7}"/>
              </a:ext>
            </a:extLst>
          </p:cNvPr>
          <p:cNvPicPr>
            <a:picLocks noChangeAspect="1"/>
          </p:cNvPicPr>
          <p:nvPr/>
        </p:nvPicPr>
        <p:blipFill>
          <a:blip r:embed="rId3"/>
          <a:stretch>
            <a:fillRect/>
          </a:stretch>
        </p:blipFill>
        <p:spPr>
          <a:xfrm>
            <a:off x="10249380" y="0"/>
            <a:ext cx="1942620" cy="622550"/>
          </a:xfrm>
          <a:prstGeom prst="rect">
            <a:avLst/>
          </a:prstGeom>
        </p:spPr>
      </p:pic>
    </p:spTree>
    <p:extLst>
      <p:ext uri="{BB962C8B-B14F-4D97-AF65-F5344CB8AC3E}">
        <p14:creationId xmlns:p14="http://schemas.microsoft.com/office/powerpoint/2010/main" val="302927706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AEF2FA-32F2-6715-843F-6ACC796D0536}"/>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C00062CA-E93E-DFB0-5A22-1412AB9A6752}"/>
              </a:ext>
            </a:extLst>
          </p:cNvPr>
          <p:cNvSpPr txBox="1"/>
          <p:nvPr/>
        </p:nvSpPr>
        <p:spPr>
          <a:xfrm>
            <a:off x="3048000" y="600078"/>
            <a:ext cx="6096000" cy="646331"/>
          </a:xfrm>
          <a:prstGeom prst="rect">
            <a:avLst/>
          </a:prstGeom>
          <a:noFill/>
        </p:spPr>
        <p:txBody>
          <a:bodyPr wrap="square">
            <a:spAutoFit/>
          </a:bodyPr>
          <a:lstStyle/>
          <a:p>
            <a:pPr algn="ctr"/>
            <a:r>
              <a:rPr lang="en-US" sz="3600" b="1" dirty="0"/>
              <a:t>Problem Gap Identification</a:t>
            </a:r>
          </a:p>
        </p:txBody>
      </p:sp>
      <p:pic>
        <p:nvPicPr>
          <p:cNvPr id="3" name="Picture 2">
            <a:extLst>
              <a:ext uri="{FF2B5EF4-FFF2-40B4-BE49-F238E27FC236}">
                <a16:creationId xmlns:a16="http://schemas.microsoft.com/office/drawing/2014/main" id="{7777B92A-0C12-D39A-8847-98719E7B6FFF}"/>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838200" y="1950000"/>
            <a:ext cx="10515600" cy="4000000"/>
          </a:xfrm>
          <a:prstGeom prst="rect">
            <a:avLst/>
          </a:prstGeom>
          <a:noFill/>
        </p:spPr>
        <p:txBody>
          <a:bodyPr wrap="square">
            <a:spAutoFit/>
          </a:bodyPr>
          <a:lstStyle/>
          <a:p>
            <a:pPr>
              <a:lnSpc>
                <a:spcPct val="115000"/>
              </a:lnSpc>
              <a:spcAft>
                <a:spcPts val="1000"/>
              </a:spcAft>
            </a:pPr>
            <a:r>
              <a:rPr sz="1900">
                <a:solidFill>
                  <a:srgbClr val="1A1A1A"/>
                </a:solidFill>
                <a:latin typeface="Times New Roman"/>
              </a:rPr>
              <a:t>•  Existing carpooling solutions are often monolithic, making it hard to scale individual features (e.g. booking) independently during peak demand</a:t>
            </a:r>
          </a:p>
          <a:p>
            <a:pPr>
              <a:lnSpc>
                <a:spcPct val="115000"/>
              </a:lnSpc>
              <a:spcAft>
                <a:spcPts val="1000"/>
              </a:spcAft>
            </a:pPr>
            <a:r>
              <a:rPr sz="1900">
                <a:solidFill>
                  <a:srgbClr val="1A1A1A"/>
                </a:solidFill>
                <a:latin typeface="Times New Roman"/>
              </a:rPr>
              <a:t>•  Informal carpooling arrangements (calls, chat groups) lack verified user profiles, structured booking, and cancellation handling</a:t>
            </a:r>
          </a:p>
          <a:p>
            <a:pPr>
              <a:lnSpc>
                <a:spcPct val="115000"/>
              </a:lnSpc>
              <a:spcAft>
                <a:spcPts val="1000"/>
              </a:spcAft>
            </a:pPr>
            <a:r>
              <a:rPr sz="1900">
                <a:solidFill>
                  <a:srgbClr val="1A1A1A"/>
                </a:solidFill>
                <a:latin typeface="Times New Roman"/>
              </a:rPr>
              <a:t>•  Few academic or open-source carpooling systems apply a true microservices + API gateway + service discovery pattern for modularity</a:t>
            </a:r>
          </a:p>
          <a:p>
            <a:pPr>
              <a:lnSpc>
                <a:spcPct val="115000"/>
              </a:lnSpc>
              <a:spcAft>
                <a:spcPts val="1000"/>
              </a:spcAft>
            </a:pPr>
            <a:r>
              <a:rPr sz="1900">
                <a:solidFill>
                  <a:srgbClr val="1A1A1A"/>
                </a:solidFill>
                <a:latin typeface="Times New Roman"/>
              </a:rPr>
              <a:t>•  Existing apps rarely separate ride management, booking, and notification concerns into independently deployable services</a:t>
            </a:r>
          </a:p>
          <a:p>
            <a:pPr>
              <a:lnSpc>
                <a:spcPct val="115000"/>
              </a:lnSpc>
              <a:spcAft>
                <a:spcPts val="1000"/>
              </a:spcAft>
            </a:pPr>
            <a:r>
              <a:rPr sz="1900">
                <a:solidFill>
                  <a:srgbClr val="1A1A1A"/>
                </a:solidFill>
                <a:latin typeface="Times New Roman"/>
              </a:rPr>
              <a:t>•  Limited support for real-time seat availability updates and secure role-based access in low-cost or open implementations</a:t>
            </a:r>
          </a:p>
        </p:txBody>
      </p:sp>
    </p:spTree>
    <p:extLst>
      <p:ext uri="{BB962C8B-B14F-4D97-AF65-F5344CB8AC3E}">
        <p14:creationId xmlns:p14="http://schemas.microsoft.com/office/powerpoint/2010/main" val="206587601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3BC6D84-077B-7007-4B63-807557EC6377}"/>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D4387226-F29E-0041-5581-4EF07C7198F1}"/>
              </a:ext>
            </a:extLst>
          </p:cNvPr>
          <p:cNvSpPr txBox="1"/>
          <p:nvPr/>
        </p:nvSpPr>
        <p:spPr>
          <a:xfrm>
            <a:off x="1893060" y="567351"/>
            <a:ext cx="8405879" cy="646331"/>
          </a:xfrm>
          <a:prstGeom prst="rect">
            <a:avLst/>
          </a:prstGeom>
          <a:noFill/>
        </p:spPr>
        <p:txBody>
          <a:bodyPr wrap="square">
            <a:spAutoFit/>
          </a:bodyPr>
          <a:lstStyle/>
          <a:p>
            <a:pPr algn="ctr"/>
            <a:r>
              <a:rPr lang="en-US" sz="3600" b="1" dirty="0"/>
              <a:t>Innovation, Creativity, and Novelty</a:t>
            </a:r>
          </a:p>
        </p:txBody>
      </p:sp>
      <p:pic>
        <p:nvPicPr>
          <p:cNvPr id="3" name="Picture 2">
            <a:extLst>
              <a:ext uri="{FF2B5EF4-FFF2-40B4-BE49-F238E27FC236}">
                <a16:creationId xmlns:a16="http://schemas.microsoft.com/office/drawing/2014/main" id="{1BC5F926-1E4C-4031-B9E9-6A17F126A332}"/>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838200" y="1950000"/>
            <a:ext cx="10515600" cy="4000000"/>
          </a:xfrm>
          <a:prstGeom prst="rect">
            <a:avLst/>
          </a:prstGeom>
          <a:noFill/>
        </p:spPr>
        <p:txBody>
          <a:bodyPr wrap="square">
            <a:spAutoFit/>
          </a:bodyPr>
          <a:lstStyle/>
          <a:p>
            <a:pPr>
              <a:lnSpc>
                <a:spcPct val="115000"/>
              </a:lnSpc>
              <a:spcAft>
                <a:spcPts val="1000"/>
              </a:spcAft>
            </a:pPr>
            <a:r>
              <a:rPr sz="1900">
                <a:solidFill>
                  <a:srgbClr val="1A1A1A"/>
                </a:solidFill>
                <a:latin typeface="Times New Roman"/>
              </a:rPr>
              <a:t>•  Applies SOA / microservices principles, not commonly seen in typical academic carpooling projects, to the ride-sharing domain</a:t>
            </a:r>
          </a:p>
          <a:p>
            <a:pPr>
              <a:lnSpc>
                <a:spcPct val="115000"/>
              </a:lnSpc>
              <a:spcAft>
                <a:spcPts val="1000"/>
              </a:spcAft>
            </a:pPr>
            <a:r>
              <a:rPr sz="1900">
                <a:solidFill>
                  <a:srgbClr val="1A1A1A"/>
                </a:solidFill>
                <a:latin typeface="Times New Roman"/>
              </a:rPr>
              <a:t>•  Clear separation of concerns into User, Ride, Booking and Notification services, each independently deployable and scalable</a:t>
            </a:r>
          </a:p>
          <a:p>
            <a:pPr>
              <a:lnSpc>
                <a:spcPct val="115000"/>
              </a:lnSpc>
              <a:spcAft>
                <a:spcPts val="1000"/>
              </a:spcAft>
            </a:pPr>
            <a:r>
              <a:rPr sz="1900">
                <a:solidFill>
                  <a:srgbClr val="1A1A1A"/>
                </a:solidFill>
                <a:latin typeface="Times New Roman"/>
              </a:rPr>
              <a:t>•  Centralized API Gateway (Spring Cloud Gateway) combined with Eureka-based service discovery for dynamic, scalable routing</a:t>
            </a:r>
          </a:p>
          <a:p>
            <a:pPr>
              <a:lnSpc>
                <a:spcPct val="115000"/>
              </a:lnSpc>
              <a:spcAft>
                <a:spcPts val="1000"/>
              </a:spcAft>
            </a:pPr>
            <a:r>
              <a:rPr sz="1900">
                <a:solidFill>
                  <a:srgbClr val="1A1A1A"/>
                </a:solidFill>
                <a:latin typeface="Times New Roman"/>
              </a:rPr>
              <a:t>•  Secure, role-based JWT authentication distinguishing driver and passenger permissions at the gateway level</a:t>
            </a:r>
          </a:p>
          <a:p>
            <a:pPr>
              <a:lnSpc>
                <a:spcPct val="115000"/>
              </a:lnSpc>
              <a:spcAft>
                <a:spcPts val="1000"/>
              </a:spcAft>
            </a:pPr>
            <a:r>
              <a:rPr sz="1900">
                <a:solidFill>
                  <a:srgbClr val="1A1A1A"/>
                </a:solidFill>
                <a:latin typeface="Times New Roman"/>
              </a:rPr>
              <a:t>•  Individual services, such as the Booking Service, can scale independently during high-demand periods without affecting others</a:t>
            </a:r>
          </a:p>
        </p:txBody>
      </p:sp>
    </p:spTree>
    <p:extLst>
      <p:ext uri="{BB962C8B-B14F-4D97-AF65-F5344CB8AC3E}">
        <p14:creationId xmlns:p14="http://schemas.microsoft.com/office/powerpoint/2010/main" val="35241353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F8AA2CC-2C9A-D968-2F38-FFC4A7D23869}"/>
            </a:ext>
          </a:extLst>
        </p:cNvPr>
        <p:cNvGrpSpPr/>
        <p:nvPr/>
      </p:nvGrpSpPr>
      <p:grpSpPr>
        <a:xfrm>
          <a:off x="0" y="0"/>
          <a:ext cx="0" cy="0"/>
          <a:chOff x="0" y="0"/>
          <a:chExt cx="0" cy="0"/>
        </a:xfrm>
      </p:grpSpPr>
      <p:sp>
        <p:nvSpPr>
          <p:cNvPr id="5" name="TextBox 4">
            <a:extLst>
              <a:ext uri="{FF2B5EF4-FFF2-40B4-BE49-F238E27FC236}">
                <a16:creationId xmlns:a16="http://schemas.microsoft.com/office/drawing/2014/main" id="{9EF7CE10-08D9-83CF-7508-12575531E1E0}"/>
              </a:ext>
            </a:extLst>
          </p:cNvPr>
          <p:cNvSpPr txBox="1"/>
          <p:nvPr/>
        </p:nvSpPr>
        <p:spPr>
          <a:xfrm>
            <a:off x="2615380" y="551058"/>
            <a:ext cx="7234014" cy="707886"/>
          </a:xfrm>
          <a:prstGeom prst="rect">
            <a:avLst/>
          </a:prstGeom>
          <a:noFill/>
        </p:spPr>
        <p:txBody>
          <a:bodyPr wrap="square">
            <a:spAutoFit/>
          </a:bodyPr>
          <a:lstStyle/>
          <a:p>
            <a:pPr algn="ctr"/>
            <a:r>
              <a:rPr lang="en-US" sz="4000" b="1" dirty="0"/>
              <a:t>Feasibility and Project Plan</a:t>
            </a:r>
          </a:p>
        </p:txBody>
      </p:sp>
      <p:pic>
        <p:nvPicPr>
          <p:cNvPr id="4" name="Picture 3">
            <a:extLst>
              <a:ext uri="{FF2B5EF4-FFF2-40B4-BE49-F238E27FC236}">
                <a16:creationId xmlns:a16="http://schemas.microsoft.com/office/drawing/2014/main" id="{F971D25F-D310-56FA-A58E-B7B79C7D857D}"/>
              </a:ext>
            </a:extLst>
          </p:cNvPr>
          <p:cNvPicPr>
            <a:picLocks noChangeAspect="1"/>
          </p:cNvPicPr>
          <p:nvPr/>
        </p:nvPicPr>
        <p:blipFill>
          <a:blip r:embed="rId2"/>
          <a:stretch>
            <a:fillRect/>
          </a:stretch>
        </p:blipFill>
        <p:spPr>
          <a:xfrm>
            <a:off x="10249380" y="0"/>
            <a:ext cx="1942620" cy="622550"/>
          </a:xfrm>
          <a:prstGeom prst="rect">
            <a:avLst/>
          </a:prstGeom>
        </p:spPr>
      </p:pic>
      <p:sp>
        <p:nvSpPr>
          <p:cNvPr id="6" name="TextBox 5"/>
          <p:cNvSpPr txBox="1"/>
          <p:nvPr/>
        </p:nvSpPr>
        <p:spPr>
          <a:xfrm>
            <a:off x="974587" y="1578105"/>
            <a:ext cx="10515600" cy="1750000"/>
          </a:xfrm>
          <a:prstGeom prst="rect">
            <a:avLst/>
          </a:prstGeom>
          <a:noFill/>
        </p:spPr>
        <p:txBody>
          <a:bodyPr wrap="square">
            <a:spAutoFit/>
          </a:bodyPr>
          <a:lstStyle/>
          <a:p>
            <a:pPr>
              <a:lnSpc>
                <a:spcPct val="105000"/>
              </a:lnSpc>
              <a:spcAft>
                <a:spcPts val="500"/>
              </a:spcAft>
            </a:pPr>
            <a:r>
              <a:rPr sz="1500" dirty="0">
                <a:solidFill>
                  <a:srgbClr val="1A1A1A"/>
                </a:solidFill>
                <a:latin typeface="Times New Roman"/>
              </a:rPr>
              <a:t>•  Technically feasible — open-source, well-documented stack (Java, Spring Boot, Spring Cloud, REST)</a:t>
            </a:r>
          </a:p>
          <a:p>
            <a:pPr>
              <a:lnSpc>
                <a:spcPct val="105000"/>
              </a:lnSpc>
              <a:spcAft>
                <a:spcPts val="500"/>
              </a:spcAft>
            </a:pPr>
            <a:r>
              <a:rPr sz="1500" dirty="0">
                <a:solidFill>
                  <a:srgbClr val="1A1A1A"/>
                </a:solidFill>
                <a:latin typeface="Times New Roman"/>
              </a:rPr>
              <a:t>•  Economically feasible — no licensing cost; deployable on free-tier cloud or campus infrastructure</a:t>
            </a:r>
          </a:p>
          <a:p>
            <a:pPr>
              <a:lnSpc>
                <a:spcPct val="105000"/>
              </a:lnSpc>
              <a:spcAft>
                <a:spcPts val="500"/>
              </a:spcAft>
            </a:pPr>
            <a:r>
              <a:rPr sz="1500" dirty="0">
                <a:solidFill>
                  <a:srgbClr val="1A1A1A"/>
                </a:solidFill>
                <a:latin typeface="Times New Roman"/>
              </a:rPr>
              <a:t>•  Operationally feasible — modular microservices allow incremental, independent development and deployment</a:t>
            </a:r>
          </a:p>
        </p:txBody>
      </p:sp>
      <p:pic>
        <p:nvPicPr>
          <p:cNvPr id="3" name="Picture 2">
            <a:extLst>
              <a:ext uri="{FF2B5EF4-FFF2-40B4-BE49-F238E27FC236}">
                <a16:creationId xmlns:a16="http://schemas.microsoft.com/office/drawing/2014/main" id="{29DB089D-D3BE-93C0-45DB-5CF29A32DC33}"/>
              </a:ext>
            </a:extLst>
          </p:cNvPr>
          <p:cNvPicPr>
            <a:picLocks noChangeAspect="1"/>
          </p:cNvPicPr>
          <p:nvPr/>
        </p:nvPicPr>
        <p:blipFill>
          <a:blip r:embed="rId3"/>
          <a:stretch>
            <a:fillRect/>
          </a:stretch>
        </p:blipFill>
        <p:spPr>
          <a:xfrm>
            <a:off x="1103723" y="2453105"/>
            <a:ext cx="8964276" cy="4048690"/>
          </a:xfrm>
          <a:prstGeom prst="rect">
            <a:avLst/>
          </a:prstGeom>
        </p:spPr>
      </p:pic>
    </p:spTree>
    <p:extLst>
      <p:ext uri="{BB962C8B-B14F-4D97-AF65-F5344CB8AC3E}">
        <p14:creationId xmlns:p14="http://schemas.microsoft.com/office/powerpoint/2010/main" val="411885526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1_Office Theme">
  <a:themeElements>
    <a:clrScheme name="Office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TotalTime>
  <Words>751</Words>
  <Application>Microsoft Office PowerPoint</Application>
  <PresentationFormat>Widescreen</PresentationFormat>
  <Paragraphs>88</Paragraphs>
  <Slides>8</Slides>
  <Notes>2</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8</vt:i4>
      </vt:variant>
    </vt:vector>
  </HeadingPairs>
  <TitlesOfParts>
    <vt:vector size="16" baseType="lpstr">
      <vt:lpstr>Aptos</vt:lpstr>
      <vt:lpstr>Aptos Display</vt:lpstr>
      <vt:lpstr>Arial</vt:lpstr>
      <vt:lpstr>Calibri</vt:lpstr>
      <vt:lpstr>Calibri Light</vt:lpstr>
      <vt:lpstr>Times New Roman</vt:lpstr>
      <vt:lpstr>Office Theme</vt:lpstr>
      <vt:lpstr>1_Office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srikanth ch</dc:creator>
  <cp:lastModifiedBy>Mounitha ThirumalaReddy</cp:lastModifiedBy>
  <cp:revision>34</cp:revision>
  <dcterms:created xsi:type="dcterms:W3CDTF">2026-08-08T06:33:56Z</dcterms:created>
  <dcterms:modified xsi:type="dcterms:W3CDTF">2026-08-19T04:54:45Z</dcterms:modified>
</cp:coreProperties>
</file>